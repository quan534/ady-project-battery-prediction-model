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D3E"/>
              </a:solidFill>
              <a:effectLst/>
            </c:spPr>
          </c:dPt>
          <c:dPt>
            <c:idx val="1"/>
            <c:bubble3D val="0"/>
            <c:spPr>
              <a:solidFill>
                <a:srgbClr val="1B6B6D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PBL: làm dự án</c:v>
                </c:pt>
                <c:pt idx="1">
                  <c:v>RBL: đọc và viết bài</c:v>
                </c:pt>
                <c:pt idx="2">
                  <c:v>AI Reflection: ghi log AI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</c:v>
                </c:pt>
                <c:pt idx="1">
                  <c:v>30</c:v>
                </c:pt>
                <c:pt idx="2">
                  <c:v>30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Trọng số</c:v>
                </c:pt>
              </c:strCache>
            </c:strRef>
          </c:tx>
          <c:spPr>
            <a:solidFill>
              <a:srgbClr val="1B6B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02 Progress Tests</c:v>
                  </c:pt>
                  <c:pt idx="1">
                    <c:v>Project Planning</c:v>
                  </c:pt>
                  <c:pt idx="2">
                    <c:v>03 On-going Assessment</c:v>
                  </c:pt>
                  <c:pt idx="3">
                    <c:v>Final Project Evaluation</c:v>
                  </c:pt>
                  <c:pt idx="4">
                    <c:v>Final Exam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10</c:v>
                </c:pt>
                <c:pt idx="2">
                  <c:v>30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7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Trọng số</c:v>
                </c:pt>
              </c:strCache>
            </c:strRef>
          </c:tx>
          <c:spPr>
            <a:solidFill>
              <a:srgbClr val="1B6B6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Báo cáo (APA 7)</c:v>
                  </c:pt>
                  <c:pt idx="1">
                    <c:v>Hiểu bài toán</c:v>
                  </c:pt>
                  <c:pt idx="2">
                    <c:v>Hiểu dữ liệu</c:v>
                  </c:pt>
                  <c:pt idx="3">
                    <c:v>Phân tích SQL</c:v>
                  </c:pt>
                  <c:pt idx="4">
                    <c:v>Phân tích Python</c:v>
                  </c:pt>
                  <c:pt idx="5">
                    <c:v>Biểu đồ</c:v>
                  </c:pt>
                  <c:pt idx="6">
                    <c:v>Hồi quy (≥ 5 mô hình)</c:v>
                  </c:pt>
                  <c:pt idx="7">
                    <c:v>Dashboard</c:v>
                  </c:pt>
                  <c:pt idx="8">
                    <c:v>Hỏi đáp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7.png"/><Relationship Id="rId8" Type="http://schemas.openxmlformats.org/officeDocument/2006/relationships/image" Target="../media/image-4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TRƯỜNG ĐẠI HỌC FPT TP.HCM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MÔN CF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ADY201m, AI &amp; DATA SCIENCE WITH PYTHON &amp; SQL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 thực hiện Project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AI2108, 9 nhóm, tuần 1 đến tuần 3, học kỳ Fall 2026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Planning, cài đặt công cụ, từ câu hỏi nghiên cứu đến code, hội nghị mục tiêu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rgbClr val="1B6B6D"/>
          </a:solidFill>
          <a:ln w="12700">
            <a:solidFill>
              <a:srgbClr val="1B6B6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53675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691640" y="5257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2 sinh viên, mỗi nhóm một đề riêng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0" y="5212080"/>
            <a:ext cx="640080" cy="640080"/>
          </a:xfrm>
          <a:prstGeom prst="ellipse">
            <a:avLst/>
          </a:prstGeom>
          <a:solidFill>
            <a:srgbClr val="1B6B6D"/>
          </a:solidFill>
          <a:ln w="12700">
            <a:solidFill>
              <a:srgbClr val="1B6B6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53675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5257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mở của chính phủ Mỹ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229600" y="5212080"/>
            <a:ext cx="640080" cy="640080"/>
          </a:xfrm>
          <a:prstGeom prst="ellipse">
            <a:avLst/>
          </a:prstGeom>
          <a:solidFill>
            <a:srgbClr val="1B6B6D"/>
          </a:solidFill>
          <a:ln w="12700">
            <a:solidFill>
              <a:srgbClr val="1B6B6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53675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06840" y="5257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một bài gửi hội nghị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 và cách chấm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2194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Lộ trình 11 tuần, mốc nộp, rubric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tuần 1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21945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template, viết 3 câu hỏi, chọn 3 bài báo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công cụ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749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VS Code, GitHub, cấu trúc dự án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17920" y="310896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3337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câu hỏi nghiên cứu đến code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7490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1 đến 5 với code mẫu, tuần 1 đến 3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và cách so sánh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303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mô hình, so với bài baseline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17920" y="4663440"/>
            <a:ext cx="5394960" cy="1280160"/>
          </a:xfrm>
          <a:prstGeom prst="roundRect">
            <a:avLst>
              <a:gd name="adj" fmla="val 714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0" y="4892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4846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tài, hướng nghiên cứu, proposal, Audit Log, hội nghị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53035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chung; chi tiết từng đề gửi riêng cho từng nhóm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Môn học và cách chấm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phần điểm, lộ trình 11 tuần, mốc nộp LMS và rubric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Môn học vận hành như thế nào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47548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173736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450" y="186309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46520" y="17099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dự án (40%)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46520" y="201168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bước từ hiểu bài toán đến dashboard; ít nhất 5 mô hình so với bài baseline.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760720" y="32004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450" y="332613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446520" y="31729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và viết bài (30%)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446520" y="347472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bài báo, Research Proposal tuần 3, Final Report 10-12 trang LaTeX Springer.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5760720" y="46634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450" y="478917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446520" y="463600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log AI (30%)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446520" y="4937760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thoải mái nhưng mỗi người ghi lại mình đã dùng gì, kiểm tra gì, sửa gì.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Lộ trình 11 tuần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23544" y="2935224"/>
            <a:ext cx="10058400" cy="0"/>
          </a:xfrm>
          <a:prstGeom prst="line">
            <a:avLst/>
          </a:prstGeom>
          <a:noFill/>
          <a:ln w="25400">
            <a:solidFill>
              <a:srgbClr val="1B6B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35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 chuẩn bị dữ liệu, bài báo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44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379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nhóm, nộp Project 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523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293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3-4: SQL, Python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667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437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5: biểu đồ, nộp Proposal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811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581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6: 5 mô hình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955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725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Bước 7: dashboard, Review 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99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869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mới, làm lại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0408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243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013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LaTeX, Review 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552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552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387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157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Rà soát code, bài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696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8696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1531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301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3, nộp Final Report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7840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84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0675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44584" y="1645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thuyết trình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6984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6984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9819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158984" y="34747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hội đồng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315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 đến 3 (bộ slide này)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đề, tải dữ liệu, làm sạch, SQL, biểu đồ đầu tiên, nộp Project Planning và Proposal.</a:t>
            </a:r>
            <a:endParaRPr lang="en-US" sz="1450" dirty="0"/>
          </a:p>
        </p:txBody>
      </p:sp>
      <p:sp>
        <p:nvSpPr>
          <p:cNvPr id="55" name="Shape 53"/>
          <p:cNvSpPr/>
          <p:nvPr/>
        </p:nvSpPr>
        <p:spPr>
          <a:xfrm>
            <a:off x="429768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48056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4 đến 9</a:t>
            </a:r>
            <a:endParaRPr lang="en-US" sz="1800" dirty="0"/>
          </a:p>
        </p:txBody>
      </p:sp>
      <p:sp>
        <p:nvSpPr>
          <p:cNvPr id="57" name="Text 55"/>
          <p:cNvSpPr txBox="1"/>
          <p:nvPr/>
        </p:nvSpPr>
        <p:spPr>
          <a:xfrm>
            <a:off x="448056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hình, dashboard, ba lần Review, viết bài, nộp Final Report và Slide.</a:t>
            </a:r>
            <a:endParaRPr lang="en-US" sz="1450" dirty="0"/>
          </a:p>
        </p:txBody>
      </p:sp>
      <p:sp>
        <p:nvSpPr>
          <p:cNvPr id="58" name="Shape 56"/>
          <p:cNvSpPr/>
          <p:nvPr/>
        </p:nvSpPr>
        <p:spPr>
          <a:xfrm>
            <a:off x="804672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22960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10 và 11</a:t>
            </a:r>
            <a:endParaRPr lang="en-US" sz="18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thuyết trình; hội đồng chấm và hỏi từng người trên Audit Log.</a:t>
            </a:r>
            <a:endParaRPr lang="en-US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Nộp gì, khi nào (tất cả trên LMS)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75564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17627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596896" y="226771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07208" y="164592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75564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80360" y="217627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855464" y="226771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65776" y="164592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75564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38928" y="217627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5, 7, 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cá nhân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114032" y="226771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24344" y="164592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55648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97496" y="217627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+ Slide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9372600" y="226771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582912" y="164592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1755648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56064" y="217627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hội đồng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" y="35661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và Proposal viết theo template của môn (gửi trong tuần 1)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mỗi sinh viên một file riêng, bản sau gồm cả bản trước, đợt 3 là bản cuối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Report: tiếng Anh, LaTeX Springer 1 cột, 10-12 trang; slide theo template của môn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11 không nộp gì thêm; hội đồng hỏi 3-5 prompt trong Audit Log của từng người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 cấu điểm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63040"/>
          <a:ext cx="5760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55448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6656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Audit Log trong 80 điểm quá trình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235440" y="155448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8320" y="1645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2423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On-going khi có chứng chỉ Enhance (AI) Self Worth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3291840"/>
            <a:ext cx="5029200" cy="2651760"/>
          </a:xfrm>
          <a:prstGeom prst="roundRect">
            <a:avLst>
              <a:gd name="adj" fmla="val 4138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766560" y="3429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 qua môn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3858768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cột On-going trên 0; Final Project từ 4; Final Exam từ 4 và điểm tổng từ 5 (thang 10).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chấm Final Project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6304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73736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0" y="186309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092440" y="17099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và Python, 20%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20116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vấn trả lời câu hỏi, code chạy đúng, giải thích được lựa chọn.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06640" y="32004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0" y="332613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92440" y="3172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đồ, mô hình, dashboard, 30%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092440" y="34747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hình nói được một kết luận; 5 mô hình so với baseline.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406640" y="46634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370" y="478917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92440" y="46360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đáp, 20%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8092440" y="49377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kết quả; trả lời về 3-5 prompt trong Audit Log.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Planning tuần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template 9 mục, nộp LMS trước buổi học tuần 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Project Planning có 9 mục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nhóm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29768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và dữ liệu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04672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8388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0976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câu hỏi nghiên cứu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35204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01168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bài báo baseline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429768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443484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35204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6072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11 tuần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804672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18388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5204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509760" y="3337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công 7 bước</a:t>
            </a:r>
            <a:endParaRPr lang="en-US" sz="1700" dirty="0"/>
          </a:p>
        </p:txBody>
      </p:sp>
      <p:sp>
        <p:nvSpPr>
          <p:cNvPr id="27" name="Shape 19"/>
          <p:cNvSpPr/>
          <p:nvPr/>
        </p:nvSpPr>
        <p:spPr>
          <a:xfrm>
            <a:off x="54864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68580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5074920"/>
            <a:ext cx="457200" cy="4572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201168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dùng AI</a:t>
            </a:r>
            <a:endParaRPr lang="en-US" sz="1700" dirty="0"/>
          </a:p>
        </p:txBody>
      </p:sp>
      <p:sp>
        <p:nvSpPr>
          <p:cNvPr id="31" name="Shape 22"/>
          <p:cNvSpPr/>
          <p:nvPr/>
        </p:nvSpPr>
        <p:spPr>
          <a:xfrm>
            <a:off x="429768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443484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5074920"/>
            <a:ext cx="457200" cy="45720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576072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Rủi ro và dự phòng</a:t>
            </a:r>
            <a:endParaRPr lang="en-US" sz="1700" dirty="0"/>
          </a:p>
        </p:txBody>
      </p:sp>
      <p:sp>
        <p:nvSpPr>
          <p:cNvPr id="35" name="Shape 25"/>
          <p:cNvSpPr/>
          <p:nvPr/>
        </p:nvSpPr>
        <p:spPr>
          <a:xfrm>
            <a:off x="804672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818388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6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5400" y="5074920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9509760" y="4892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 chấm 10%</a:t>
            </a:r>
            <a:endParaRPr lang="en-US" sz="1700" dirty="0"/>
          </a:p>
        </p:txBody>
      </p:sp>
      <p:sp>
        <p:nvSpPr>
          <p:cNvPr id="39" name="Text 2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câu hỏi nghiên cứu: mỗi câu một kiểu trả lời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312" y="16642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Mô tả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Yếu tố nào liên quan mạnh nhất đến điều cần dự đoán?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02608" y="222199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1292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6642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607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Mô hình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5 mô hình, mô hình nào tốt nhất so với bài baseline?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66888" y="222199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7720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872" y="16642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5035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Điều bài trước chưa làm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mới, nhóm khác, giải thích, ngưỡng cảnh báo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4747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3152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tốt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4041648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biến, có cách đo, có so sánh. Ví dụ: "Trong 5 mô hình dự báo ngày kế tiếp, mô hình nào cho sai số MAE thấp nhất trên 3 tháng cuối 2024, so với mốc naive?"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217920" y="34747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40080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yếu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4041648"/>
            <a:ext cx="5029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cách đo, không so sánh. Ví dụ: "Mô hình nào tốt nhất?", "AI giúp gì cho sức khoẻ?", "Dữ liệu có bias không?"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ba bài báo baseline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312" y="16642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mô tả dữ liệu của cơ quan phát hành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02608" y="222199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31292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6642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38607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2022-2026 dùng cùng loại dữ liệu, có bảng kết quả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66888" y="222199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77200" y="1554480"/>
            <a:ext cx="3535680" cy="1554480"/>
          </a:xfrm>
          <a:prstGeom prst="roundRect">
            <a:avLst>
              <a:gd name="adj" fmla="val 5882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872" y="16642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150352" y="2084832"/>
            <a:ext cx="3389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phương pháp chung (SHAP, cây tăng cường, mô hình nền)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486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1417320" y="35204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904488"/>
            <a:ext cx="101498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Scholar, Semantic Scholar: tên bộ dữ liệu + prediction hoặc forecasting; lọc 2022-2026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45415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48640" y="454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1417320" y="44958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417320" y="4879848"/>
            <a:ext cx="101498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được DOI; đăng ở tạp chí hoặc hội nghị có tên; không dùng bài AI gợi ý mà không mở được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551688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48640" y="5516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1417320" y="547116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417320" y="5855208"/>
            <a:ext cx="1014984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giả, năm, tên bài, nơi đăng, dữ liệu, mô hình, con số chính, hạn chế tác giả nêu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Nhóm 2 người: bốn giai đoạn và cách phân công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 đến 4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đề, dữ liệu, Bước 1 đến 6 theo câu hỏi giảng viên giao; nộp Project Planning và Proposal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114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dữ liệu, SQL; B: Python, mô hình, viết Proposal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4630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459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6908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 đến 8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Review 1 và 2, câu hỏi mới của nhóm, làm lại 7 bước, viết Method và Discussion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4114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vai: A mô hình và Methodology; B SQL, biểu đồ, Discussion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8580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9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630936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paper LaTeX và slide theo template, nộp Final Report, Review 3, Audit Log đợt 3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4114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rà soát chéo bài và code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915400" y="146304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164592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64692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10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9098280" y="22402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trình bày, chạy thử demo, chuẩn bị trả lời về prompt trong Audit Log của từng người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4114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trình bày phần mình làm chính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tuần một người làm chính, người kia chạy lại và kiểm tra chéo; cả hai đều phải nắm SQL, Python và mô hình vì hội đồng hỏi từng người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Bảy lỗi làm mất điểm Project Planning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6802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dữ liệu không phải trang cơ quan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828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Kaggle đăng lại không được tính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8689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715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quy mô dữ liệu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có số dòng, số cột, khoảng thời gian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0576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 không có cách đo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4206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metric, không có so sánh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52463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50932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báo không mở được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5394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giả hoặc do AI bịa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9516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chép lại lộ trình chung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995160" y="1828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có việc riêng của đề tài mình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309360" y="27432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286893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95160" y="2715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một người có prompt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3 prompt ngay tuần 1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309360" y="393192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090" y="4057650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99516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đề sau tuần 2</a:t>
            </a:r>
            <a:endParaRPr lang="en-US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6995160" y="4206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được thu hẹp phạm vi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đặt công cụ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Visual Studio Code, GitHub và cấu trúc dự án, làm trong ngày đầu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Cài Python và Visual Studio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Python 3.11 hoặc 3.12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8424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python.org, tải bản Windows 64-bit; khi cài tick "Add python.exe to PATH". Kiểm tra: mở Terminal gõ python --version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94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Visual Studio 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5351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code.visualstudio.com, tải bản Windows hoặc macOS; mở VS Code, chọn File, Open Folder để mở thư mục dự án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84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extension trong VS Code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2277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biểu tượng Extensions (Ctrl+Shift+X), cài: Python (Microsoft), Jupyter, GitHub Pull Requests, SQLite Viewer, Rainbow CSV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53712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53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0799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môi trường ảo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9204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trong VS Code (Ctrl+`): python -m venv .venv, rồi chọn interpreter .venv (Ctrl+Shift+P, "Python: Select Interpreter")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522976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522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7725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thư viện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861304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pandas numpy duckdb pyarrow scikit-learn lightgbm xgboost shap matplotlib seaborn plotly ydata-profiling streamlit jupyter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đầu tiên và GitHub trong VS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notebook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84248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New File, chọn Jupyter Notebook; lưu thành notebooks/01_eda.ipynb; ô đầu tiên là markdown ghi tên đề và RQ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15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69464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ô code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5351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Shift+Enter; bảng và biểu đồ hiện ngay dưới ô; lỗi đỏ đọc dòng cuối cùng trước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844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38728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GitHub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22776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tạo tài khoản, tạo repository riêng tư; trong VS Code bấm Source Control, Clone Repository, dán link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553712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53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507992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và push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92040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mỗi buổi làm: Source Control, gõ thông điệp ("clean pm25 2022-2024"), Commit, Sync Changes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522976"/>
            <a:ext cx="640080" cy="6400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522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77256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đẩy dữ liệu lớn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861304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.gitignore có data/raw, data/processed, .venv, *.parquet; data/README.md ghi link tải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thư mục dự án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120640" cy="4754880"/>
          </a:xfrm>
          <a:prstGeom prst="roundRect">
            <a:avLst>
              <a:gd name="adj" fmla="val 1538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4846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ady201m-group3/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          cách chạy, tên nhóm, đề tài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   pip freeze &gt; requirements.txt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.gitignore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README.md        link tải, giấy phép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raw/             file gốc (không đẩy lên Git)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processed/       parquet đã làm sạch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notebooks/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01_eda.ipynb     Bước 1-2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02_sql.ipynb     Bước 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03_features.ipynb   Bước 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04_charts.ipynb  Bước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05_models.ipynb  Bước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sql/queries.sql    mọi truy vấn trả lời RQ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app/app.py         Streamlit (tuần 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report/            hình, bảng xuất cho LaTeX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0" y="1554480"/>
            <a:ext cx="1268730" cy="1371600"/>
          </a:xfrm>
          <a:prstGeom prst="roundRect">
            <a:avLst>
              <a:gd name="adj" fmla="val 720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357" y="16642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25312" y="2084832"/>
            <a:ext cx="1122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về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9178" y="213055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49490" y="1554480"/>
            <a:ext cx="1268730" cy="1371600"/>
          </a:xfrm>
          <a:prstGeom prst="roundRect">
            <a:avLst>
              <a:gd name="adj" fmla="val 720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687" y="1664208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22642" y="2084832"/>
            <a:ext cx="1122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sạch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36508" y="213055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846820" y="1554480"/>
            <a:ext cx="1268730" cy="1371600"/>
          </a:xfrm>
          <a:prstGeom prst="roundRect">
            <a:avLst>
              <a:gd name="adj" fmla="val 720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017" y="1664208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19972" y="2084832"/>
            <a:ext cx="1122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trả lời RQ1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133838" y="213055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0344150" y="1554480"/>
            <a:ext cx="1268730" cy="1371600"/>
          </a:xfrm>
          <a:prstGeom prst="roundRect">
            <a:avLst>
              <a:gd name="adj" fmla="val 720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7347" y="1664208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417302" y="2084832"/>
            <a:ext cx="1122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và bảng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852160" y="3200400"/>
            <a:ext cx="5760720" cy="3017520"/>
          </a:xfrm>
          <a:prstGeom prst="roundRect">
            <a:avLst>
              <a:gd name="adj" fmla="val 303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035040" y="33375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035040" y="37947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notebook một bước; ô đầu ghi RQ đang trả lời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hình lưu vào report/ với tên có nghĩa (fig_rq1_season.png)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lệnh chạy lại toàn bộ: python src/run_all.py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câu hỏi nghiên cứu đến code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1 đến 3: Bước 1 nạp dữ liệu, Bước 2 làm sạch, Bước 3 SQL, Bước 4 Python, Bước 5 biểu đồ; ví dụ dùng đề dự báo PM2.5 từ EPA, các nhóm đổi tên file và cột theo đề của mình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câu hỏi đi qua cùng một đường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242" y="16642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biến và cách đo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220468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3078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382" y="16642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0393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từ cơ quan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102608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1292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522" y="16642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38607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sạch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984748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506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662" y="1664208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6821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toán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866888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7720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2802" y="1664208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5035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Bảng, hình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số thứ tự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749028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959340" y="1554480"/>
            <a:ext cx="1653540" cy="1463040"/>
          </a:xfrm>
          <a:prstGeom prst="roundRect">
            <a:avLst>
              <a:gd name="adj" fmla="val 625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4942" y="1664208"/>
            <a:ext cx="402336" cy="402336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032492" y="2084832"/>
            <a:ext cx="15072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câu có số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566160"/>
                <a:gridCol w="3291840"/>
                <a:gridCol w="30175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 lời bằng gì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trông thế nào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Bước, tuần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GROUP BY, window function; biểu đồ theo mùa, theo trạm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2 và Hình 3: "mùa đông vượt ngưỡng 34% số ngày, gấp 3 mùa hè"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 3 và 5, tuần 2-3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Vòng lặp 5 mô hình trên cùng train/test; 5 seed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4: MAE, RMSE từng mô hình; in đậm tốt nhất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 6, tuần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thử trên dữ liệu mới; SHAP; ngưỡng cảnh báo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Hình 6: SHAP; Bảng 5: recall theo ngưỡng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 6-7, tuần 5-9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1: nạp dữ liệu và nhìn nhanh (tuần 1)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biết số dòng, số cột, thời gian, thiếu bao nhiêu, để điền Project Planning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duckdb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= duckdb.connect()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Nạp nhiều file năm một lần, chỉ lấy bang cần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con.execute('''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 FROM read_csv_auto('data/raw/daily_88101_*.csv',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union_by_name=true)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"State Name" = 'California'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''').df()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                            # số dòng, số cột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 Local'] = pd.to_datetime(df['Date Local'])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print(df['Date Local'].min(), df['Date Local'].max())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print(df['Site Num'].nunique(), 'trạm')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print(df.isna().mean().sort_values().tail(5))  # cột thiếu nhiều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ydata_profiling import ProfileReport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ProfileReport(df.sample(20000, random_state=42), minimal=True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).to_file('report/profile.html')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gì cho Project Planning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84248"/>
            <a:ext cx="3931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dòng, số cột sau khi lọc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đầu, ngày cuối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trạm, số pin, số sự kiện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cột thiếu nhiều nhất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hình từ profile.html: phân phối mục tiêu và thiếu dữ liệu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2: làm sạch và ghi nhật ký (tuần 1-2)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dòng bị bỏ phải có lý do và con số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 = df.columns.str.lower().str.replace(' ', '_')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df.rename(columns={'arithmetic_mean': 'pm25'})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n0 = len(df)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trùng theo khoá (trạm, ngày) và thiếu mục tiêu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df.drop_duplicates(['site_num', 'date_local'])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df.dropna(subset=['pm25'])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ngoài khoảng vật lý (âm hoặc quá lớn)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df[(df.pm25 &gt;= 0) &amp; (df.pm25 &lt;= 500)]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đủ ngày cho mỗi trạm, điền thiếu ngắn (tối đa 3 ngày)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(df.set_index('date_local').groupby('site_num')['pm25']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.resample('D').mean().reset_index())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df['pm25'] = df.groupby('site_num')['pm25'].transform(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lambda x: x.interpolate(limit=3))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print('giữ lại', len(df), 'trên', n0)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df.to_parquet('data/processed/pm25_daily.parquet', index=False)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17320"/>
          <a:ext cx="4297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Bước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 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Trùng khoá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cùng trạm, ngày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Thiếu mục tiêu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dự báo được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Ngoài 0-500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lỗi cảm biến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Nội suy ≤ 3 ngày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+2.070 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chuỗi liền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lại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0" y="46634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này đưa nguyên vào Final Report (số liệu minh hoạ)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2: ghép nguồn thứ hai (thời tiết NOAA)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ghép: (trạm gần nhất, ngày); kiểm tra tỷ lệ khớp trước khi dùng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pd.read_csv('data/raw/ghcn_ca.csv', parse_dates=['DATE'])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w.pivot_table(index=['STATION','DATE'], columns='ELEMENT',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values='VALUE').reset_index()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w[['TMAX','TMIN','PRCP']] /= 10          # về độ C và mm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trạm thời tiết gần nhất cho mỗi trạm PM2.5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BallTree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 = pd.read_csv('data/raw/ghcn_stations_ca.csv')  # STATION, LAT, LON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 = BallTree(np.radians(st[['LAT','LON']]), metric='haversine')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 = df[['site_num','latitude','longitude']].drop_duplicates()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i = tree.query(np.radians(sites[['latitude','longitude']]), k=1)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sites['STATION'] = st.STATION.values[i[:, 0]]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(df.merge(sites[['site_num','STATION']], on='site_num')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.merge(w, left_on=['STATION','date_local'],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right_on=['STATION','DATE'], how='left'))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print('có thời tiết:', m.TMAX.notna().mean())   # cần &gt; 0.9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m.to_parquet('data/processed/pm25_weather.parquet', index=False)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Khoá ghép theo đề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84248"/>
            <a:ext cx="3931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thời gian theo trạm hoặc vùng: (trạm, ngày hoặc giờ)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Pin: (pin, chu kỳ)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cố, tai nạn: mã sự kiện, mã báo cáo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merge số dòng không được tăng; tỷ lệ khớp trên 90%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3: SQL trả lời RQ1 (tuần 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mẫu: mùa nào và trạm nào vượt ngưỡng WHO nhiều nhất?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= duckdb.connect('data/processed/ady.duckdb')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con.execute("CREATE OR REPLACE TABLE pm AS 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"SELECT * FROM 'data/processed/pm25_weather.parquet'")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Q1: số ngày vượt 15 µg/m3 theo trạm và tháng, xếp hạng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d AS 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site_num, date_trunc('month', date_local) AS ym,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AVG(pm25) AS pm25_mean,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SUM(pm25 &gt; 15) AS days_over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pm GROUP BY 1, 2)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*, RANK() OVER (PARTITION BY ym ORDER BY days_over DESC) rk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 QUALIFY rk &lt;= 5 ORDER BY ym, rk;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Q2: theo mùa, kèm nhiệt độ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CASE WHEN month(date_local) IN (12,1,2) THEN 'winter'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WHEN month(date_local) IN (6,7,8)  THEN 'summer'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'other' END AS season,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ROUND(AVG(pm25),1) pm25, ROUND(AVG(TMAX),1) tmax, COUNT(*) 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pm GROUP BY 1 ORDER BY pm25 DESC;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17320"/>
          <a:ext cx="42976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25.020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0" y="33832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cho RQ1: mùa đông PM2.5 cao gấp đôi mùa hè và có nhiều ngày vượt ngưỡng nhất (số liệu minh hoạ). Đây là một câu có số, đưa thẳng vào báo cáo.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49377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5 truy vấn: GROUP BY, JOIN, window function, CTE, kiểm tra chất lượng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3 và 4: SQL tạo đặc trưng, Python chia dữ liệu (tuần 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trễ làm bằng SQL là bằng chứng rõ nhất cho tiêu chí Analysis with SQL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Q3: đặc trưng trễ, trung bình trượt, lịch, mục tiêu ngày kế tiếp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TABLE feat AS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site_num, date_local, pm25, TMAX, TMIN, PRCP,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LAG(pm25, 1) OVER w AS pm25_lag1,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LAG(pm25, 7) OVER w AS pm25_lag7,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AVG(pm25) OVER (w ROWS BETWEEN 6 PRECEDING AND CURRENT ROW) AS pm25_ma7,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dayofweek(date_local) AS dow, month(date_local) AS mon,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LEAD(pm25, 1) OVER w AS y_next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pm WINDOW w AS (PARTITION BY site_num ORDER BY date_local);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Python: chia theo thời gian, không trộn ngẫu nhiên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 = con.execute("SELECT * FROM feat WHERE y_next IS NOT NULL").df()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X_cols = ['pm25','pm25_lag1','pm25_lag7','pm25_ma7',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'TMAX','TMIN','PRCP','dow','mon']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= feat[feat.date_local &lt;  '2024-10-01']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 = feat[feat.date_local &gt;= '2024-10-01']    # 3 tháng cuối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X_tr, y_tr = train[X_cols], train.y_next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X_te, y_te = test[X_cols],  test.y_next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print(len(train), len(test))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lỗi hay gặp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84248"/>
            <a:ext cx="3931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PARTITION BY theo trạm: đặc trưng trộn trạm này với trạm kia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mục tiêu: đưa y_next hoặc giá trị tương lai vào đặc trưng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Trộn ngẫu nhiên train/test với chuỗi thời gian: kết quả đẹp giả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tay: chọn 1 trạm, 10 ngày, tính pm25_ma7 rồi so với SQL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5: biểu đồ trả lời RQ1 (tuần 3)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hình một kết luận; caption nói kết luận, không mô tả trục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plt, seaborn as sns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con.execute('''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month(date_local) AS mon, AVG(pm25) AS pm25,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AVG(pm25 &gt; 15) * 100 AS pct_over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pm GROUP BY 1 ORDER BY 1''').df()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 = plt.subplots(figsize=(7, 3.5))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 = ax.bar(q.mon, q.pct_over, color='#1B6B6D')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ax.bar_label(bars, fmt='%.0f', fontweight='bold')   # số trên cột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ax.set_xlabel('Month'); ax.set_ylabel('Days over WHO limit (%)')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ax.spines[['top', 'right']].set_visible(False)       # bỏ viền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ax.set_xticks(range(1, 13))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fig.tight_layout()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fig.savefig('report/fig_rq1_month.png', dpi=300)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Caption đưa vào báo cáo: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Figure 3. Share of days above the WHO daily limit peaks 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December to February at 30-35% and falls below 10% in summer.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hình tối thiểu cho Proposal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1984248"/>
            <a:ext cx="3931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phối biến mục tiêu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hướng theo thời gian và mùa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Tương quan đặc trưng và mục tiêu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nhóm (trạm, bang, loại)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tiếng Anh, bỏ viền trên và phải, số in đậm trên cột, không chữ đè hình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Nhìn trước RQ2: vòng lặp 5 mô hình (tuần 4)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đặc trưng, cùng train/test, 5 seed; kết quả là một bảng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Ridge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RandomForestRegressor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lightgbm import LGBMRegressor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XGBRegressor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mean_absolute_error as MAE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pandas as pd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 =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'Naive (yesterday)': None,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'Ridge': Ridge(alpha=1.0),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'Random Forest': RandomForestRegressor(300, n_jobs=-1),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'LightGBM': LGBMRegressor(n_estimators=500, learning_rate=0.03),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'XGBoost': XGBRegressor(n_estimators=500, learning_rate=0.03),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= 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m in models.items():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scores = []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seed in range(5):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 is None: pred = X_te['pm25']            # mốc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m.set_params(random_state=seed); m.fit(X_tr, y_tr)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pred = m.predict(X_te)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scores.append(MAE(y_te, pred))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rows.append([name, np.mean(scores), np.std(scores)])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print(pd.DataFrame(rows, columns=['model','MAE','sd']))</a:t>
            </a:r>
            <a:endParaRPr lang="en-US" sz="11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41732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sd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315200" y="42976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cho RQ2: LightGBM giảm MAE 31% so với mốc naive và 13% so với Ridge (số liệu minh hoạ).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Nhìn trước RQ3: giải thích và ngưỡng cảnh báo (tuần 5 trở đi)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1F2933"/>
          </a:solidFill>
          <a:ln w="12700">
            <a:solidFill>
              <a:srgbClr val="1F29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Giải thích: đặc trưng nào đẩy dự báo lên hay xuống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shap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= LGBMRegressor(n_estimators=500, learning_rate=0.03).fit(X_tr, y_tr)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 = shap.TreeExplainer(best)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 = expl.shap_values(X_te)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shap.summary_plot(sv, X_te, show=False)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plt.savefig('report/fig_rq3_shap.png', dpi=300, bbox_inches='tight')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Ngưỡng cảnh báo: dự báo &gt; t thì báo; đo bỏ sót và báo giả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 = best.predict(X_te); truth = y_te &gt; 15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[10, 12, 15, 18]: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alarm = pred &gt; 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recall = (alarm &amp; truth).sum() / truth.sum()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false_alarm = (alarm &amp; ~truth).sum() / alarm.sum()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print(t, round(recall, 2), round(false_alarm, 2))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Kiểm thử trên dữ liệu mới: huấn luyện 2022-2023, thử 2024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hoặc huấn luyện trạm A, thử trạm B (đề pin: pin A sang pin B)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0" y="1417320"/>
            <a:ext cx="4297680" cy="4846320"/>
          </a:xfrm>
          <a:prstGeom prst="roundRect">
            <a:avLst>
              <a:gd name="adj" fmla="val 2553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0" y="1554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kiểu RQ3 dùng chung cho mọi đề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984248"/>
            <a:ext cx="393192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011680"/>
            <a:ext cx="3931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mới có khác dữ liệu huấn luyện không (năm khác, trạm khác, thiết bị khác)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nào cân bằng bỏ sót và báo giả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SHAP có ổn định khi đổi năm hay đổi seed không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một bảng recall theo ngưỡng và một hình SHAP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và cách so sánh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thiểu 5 mô hình, luôn có mốc đơn giản, so sánh công bằng với bài baseline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5 mô hình theo dạng bài toán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Bảng: phân loại, hồi quy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29968"/>
            <a:ext cx="3200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/ Logistic, Ridge (mốc)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hoặc XGBoost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 cho bảng nhỏ (2025)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thời gian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29968"/>
            <a:ext cx="3200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574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theo mùa (mốc)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với trễ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với trễ và lịch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 hoặc TimesFM zero-shot (2024) để đối chiếu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cộng bảng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029968"/>
            <a:ext cx="32004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057400"/>
            <a:ext cx="3200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trên TF-IDF (mốc)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trên trường cấu trúc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cấu trúc cộng TF-IDF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tinh chỉnh nhẹ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ngôn ngữ nhỏ để tóm tắt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với bài baseline cho đúng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6802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lại baseline trước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828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dữ liệu; chênh dưới 2-3% là được; không chạy lại được thì ghi rõ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31889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30358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cách chia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33375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thời gian chia theo mốc thời gian; bảng chia có tầng theo nhãn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69773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45445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metric, 5 seed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4846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trung bình và độ lệch; in đậm tốt nhất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9516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kết quả chuẩn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995160" y="18288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đầu baseline, hàng cuối mô hình tốt nhất; có cột thời gian chạy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309360" y="30632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318897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995160" y="30358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một nhóm đặc trưng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6995160" y="33375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 thời tiết, bỏ lịch để thấy đóng góp thật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309360" y="45720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469773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95160" y="45445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trung thực</a:t>
            </a:r>
            <a:endParaRPr lang="en-US" sz="1800" dirty="0"/>
          </a:p>
        </p:txBody>
      </p:sp>
      <p:sp>
        <p:nvSpPr>
          <p:cNvPr id="26" name="Text 18"/>
          <p:cNvSpPr txBox="1"/>
          <p:nvPr/>
        </p:nvSpPr>
        <p:spPr>
          <a:xfrm>
            <a:off x="6995160" y="48463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vượt baseline thì nói vì sao; vẫn là kết quả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tài, hướng nghiên cứu, Proposal, Audit Log, hội nghị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chung cho cả lớp; chi tiết dữ liệu, câu hỏi và baseline của từng đề gửi riêng cho từng nhóm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hướng nghiên cứu; mỗi nhóm chọn ít nhất một cho RQ3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AI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774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nhẹ chạy trên thiết bị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thời gian huấn luyện, suy luận, bộ nhớ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văn bản nhanh bằng mô hình nhỏ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bao nhiêu điểm lấy 10 lần tốc độ?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16636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AI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23774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mới khác dữ liệu huấn luyện thì sao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dự đoán có khớp thực tế không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tin cậy cho cảnh báo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SHAP có ổn định không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459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1540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237744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mục tiêu cộng thời tiết, lịch, vị trí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cộng bảng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kênh cảm biến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nguồn nào nâng metric bao nhiêu?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Chín đề tài, chín nhóm, chín nguồn dữ liệu Mỹ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đề và cơ quan; chi tiết trong proposal riêng của từng nhóm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PM2.5 và cảnh báo sức khoẻ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EPA, NOAA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phụ tải điện theo giờ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78308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điện mặt trời theo giờ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báo lưu lượng sông và lũ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USGS, NOAA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5120640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Tuổi thọ pin UAV bằng mô hình nhẹ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12064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PCoE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0632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375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32461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Mức nghiêm trọng tai nạn giao thông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NHTSA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1371600" y="4800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cố UAS: văn bản cộng bảng, tóm tắt nhanh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37160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ASRS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9768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5120640" y="4800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nạn hàng không và UAS, dữ liệu mới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512064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NTSB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46720" y="4617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892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4800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Nắng nóng cực đoan và cảnh báo sóng nhiệt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869680" y="5486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Proposal (nộp tuần 3) theo template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16642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" y="208483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250 từ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596896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07208" y="155448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6642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80360" y="208483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bài, hạn chế còn để ngỏ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855464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065776" y="155448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6642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38928" y="208483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Scope, Feasibility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114032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324344" y="155448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64208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97496" y="208483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bước, 5 mô hình, metric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372600" y="2176272"/>
            <a:ext cx="192024" cy="219456"/>
          </a:xfrm>
          <a:prstGeom prst="rightArrow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582912" y="1554480"/>
            <a:ext cx="2029968" cy="1463040"/>
          </a:xfrm>
          <a:prstGeom prst="roundRect">
            <a:avLst>
              <a:gd name="adj" fmla="val 625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1664208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56064" y="208483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và Expected results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" y="3383280"/>
            <a:ext cx="10698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chính là phần mở đầu của Final Report, viết một lần dùng hai lần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đoạn từ 5 câu, vào thẳng nội dung; bảng và hình có số thứ tự và tên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tài liệu tham khảo có DOI hoặc link; không có bài do AI bịa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prompt tìm bài, tóm tắt bài vào Audit Log cá nhân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Audit Log cá nhân, 30% điểm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15-20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chính được ghi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 phát hiện AI sai và sửa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đợt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nộp LMS tuần 5, 7, 9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423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bị hỏi khi vấn đáp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3554730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34440" y="34015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gì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7033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Prompt, AI trả lời gì, mình kiểm tra hoặc sửa gì, kết quả cuối dùng trong dự án.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4880610"/>
            <a:ext cx="251460" cy="2514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34440" y="47274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Delta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1234440" y="50292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mình thêm vào mà AI không tự làm: phát hiện code sai, chọn đúng metric, đối chiếu số với bài gốc.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6309360" y="34290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554730"/>
            <a:ext cx="251460" cy="2514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95160" y="34015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đồng hỏi từng người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6995160" y="3703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file đợt 3 của chính bạn; không giải thích được là mất điểm.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309360" y="47548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090" y="4880610"/>
            <a:ext cx="251460" cy="2514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995160" y="47274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được làm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6995160" y="50292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Chép code AI không chạy thử; dùng trích dẫn AI bịa; hai người chung một file.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ghi Audit Log tốt</a:t>
            </a:r>
            <a:endParaRPr lang="en-US" sz="3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474720"/>
                <a:gridCol w="448056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(rút gọn)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trả lời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Delta của tôi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Viết truy vấn trung bình trượt 7 ngày theo trạm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vấn dùng ROWS BETWEEN 6 PRECEDING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quên PARTITION BY site_num nên trộn trạm; sửa và thử trên 2 trạm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metric cho dự báo PM2.5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xuất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Đây là hồi quy; chọn MAE, RMSE theo bài baseline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Tóm tắt bài Nearing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AUC 0,95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bài gốc: bài dùng CRPS, không có AUC; sửa tóm tắt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Sinh code LightGBM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chạy được với KFold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Đổi sang chia theo thời gian; cố định seed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Hội nghị có hạn nộp từ 20/9 đến 20/10/2026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cả hội nghị Scopus Q3, Q4 miễn kỷ yếu được chỉ mục; nhóm có kết quả sớm được giảng viên đồng hành</a:t>
            </a:r>
            <a:endParaRPr lang="en-US" sz="15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017520"/>
                <a:gridCol w="310896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Hội nghị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Hạn nộp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Kỷ yếu, chỉ mục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ACIIDS, Bali (aciids.pwr.edu.pl)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30/9, full và poster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LNAI và CCIS, Scopus, CORE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Mọi đề; poster hợp nhóm sinh viên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Cụm INSTICC: ICPRAM, ICAART, ICORES, ICISSP, BIOSTEC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22/10, position 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Scitepress, Scopus Q4, DBLP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mô hình, giải thích, hỗ trợ quyết định, pin và sức khoẻ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Cụm MIR Labs: ISDA, HIS, SoCPaR, IAS (mirlabs.org)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Thông lệ 30/9, hay gia hạn tới 20/10; xác nhận trên trang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LNNS, Scopus Q4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Đề ứng dụng, mô hình nhẹ, cảnh báo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session của các hội nghị trên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Thường cùng hạn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Cùng kỷ yếu hội nghị chính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nhận hơn track chính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94960"/>
            <a:ext cx="640080" cy="6400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52578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kiểm tra một hội nghị: kỷ yếu đăng ở đâu; tra series đó trên scimagojr.com để biết Q; tra tên trên portal.core.edu.au; tránh nơi không nêu nhà xuất bản.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 đi từ dự án đến bài hội nghị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23544" y="2935224"/>
            <a:ext cx="9144000" cy="0"/>
          </a:xfrm>
          <a:prstGeom prst="line">
            <a:avLst/>
          </a:prstGeom>
          <a:noFill/>
          <a:ln w="25400">
            <a:solidFill>
              <a:srgbClr val="1B6B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235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-813816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đề, dữ liệu, 3 bài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523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4984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= phần mở đầu bài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811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43784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1: có kết quả so baseline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566928" cy="566928"/>
          </a:xfrm>
          <a:prstGeom prst="ellipse">
            <a:avLst/>
          </a:prstGeom>
          <a:solidFill>
            <a:srgbClr val="1B6B6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99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xong Method, Discussion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9552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38744" y="2423160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01384" y="16459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= bản thảo 12 trang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84080" y="2651760"/>
            <a:ext cx="566928" cy="566928"/>
          </a:xfrm>
          <a:prstGeom prst="ellipse">
            <a:avLst/>
          </a:prstGeom>
          <a:solidFill>
            <a:srgbClr val="F4A2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8408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67544" y="3218688"/>
            <a:ext cx="0" cy="228600"/>
          </a:xfrm>
          <a:prstGeom prst="line">
            <a:avLst/>
          </a:prstGeom>
          <a:noFill/>
          <a:ln w="12700">
            <a:solidFill>
              <a:srgbClr val="9FBFB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30184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hội đồng; nộp hội nghị đang mở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chọn nhóm có kết quả tốt nhất để đồng hành viết bài.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29768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8056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9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theo LNCS, có bảng 5 seed, hình SHAP; sửa theo Review 3.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046720" y="4389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BE6D4"/>
          </a:solidFill>
          <a:ln w="12700">
            <a:solidFill>
              <a:srgbClr val="FBE6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tuần 11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495604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Rút gọn theo mẫu hội nghị và nộp; thư chấp nhận là minh chứng.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Việc cần làm trong tuần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Hạn: nộp Project Planning trên LMS trước buổi học tuần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6802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nhóm 2 người, nhận đề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28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nhóm một đề, không trùng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8689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715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Python, VS Code, tạo GitHub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23444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5 bước ở phần 3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40576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 dữ liệu, chạy Bước 1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234440" y="4206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số dòng, số cột, thời gian, giấy phép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52463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50932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Project Planning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5394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mục, có 3 câu hỏi và 3 bài báo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309360" y="155448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168021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15270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3 prompt đầu tiên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1828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vào file Audit Log của mình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6309360" y="274320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5090" y="286893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95160" y="271576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tài liệu mô tả dữ liệu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699516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Đây là bài baseline số 1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6309360" y="393192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090" y="405765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995160" y="390448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giảng viên ngay khi vướng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6995160" y="4206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tuần 2 không đổi đề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309360" y="5120640"/>
            <a:ext cx="502920" cy="502920"/>
          </a:xfrm>
          <a:prstGeom prst="ellipse">
            <a:avLst/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90" y="5246370"/>
            <a:ext cx="251460" cy="25146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95160" y="509320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chứng chỉ Enhance (AI) Self Worth</a:t>
            </a:r>
            <a:endParaRPr lang="en-US" sz="1800" dirty="0"/>
          </a:p>
        </p:txBody>
      </p:sp>
      <p:sp>
        <p:nvSpPr>
          <p:cNvPr id="35" name="Text 25"/>
          <p:cNvSpPr txBox="1"/>
          <p:nvPr/>
        </p:nvSpPr>
        <p:spPr>
          <a:xfrm>
            <a:off x="6995160" y="5394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điểm On-going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thường gặp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quá lớn, máy chạy không nổi?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bang hoặc năm ngay khi tải; dùng DuckDB đọc file lớn; lưu bản đã lọc dạng parquet.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được dùng thêm dữ liệu khác?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858000" y="20116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Được, nếu cũng là nguồn chính phủ Mỹ và ghi trong Project Planning.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0632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461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chạy lại được kết quả bài báo?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rõ chênh lệch; dùng mốc naive và mô hình tuyến tính làm chuẩn phụ.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17920" y="30632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461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5800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người có phải ghi cùng prompt không?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85800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Không; mỗi người ghi prompt mình dùng; hội đồng hỏi riêng từng người.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8463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 tài có được đổi sau tuần 2?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8872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Không; chỉ được thu hẹp phạm vi khi giảng viên đồng ý.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217920" y="46634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84632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858000" y="4800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viết tiếng gì, bao nhiêu trang?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6858000" y="5212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Anh, 10-12 trang, LaTeX Springer 1 cột; slide theo template.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1188720"/>
            <a:ext cx="1463040" cy="1463040"/>
          </a:xfrm>
          <a:prstGeom prst="ellipse">
            <a:avLst/>
          </a:prstGeom>
          <a:solidFill>
            <a:srgbClr val="1B6B6D"/>
          </a:solidFill>
          <a:ln w="12700">
            <a:solidFill>
              <a:srgbClr val="1B6B6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08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Chúc 9 nhóm lớp AI2108 làm dự án thành công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riêng của từng nhóm sẽ được gửi trong tuần 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Phụ lục: template và địa chỉ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của môn (phát tuần 1)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29968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ADY201m_Project_Planning_Template_FA26.docx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Class_Group_Research_Proposal_Template.docx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AI_AuditLog_Template.xlsx và hai file hướng dẫn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ADY201m_Slide_Presentation_Final_Sample.pptx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E6F0F0"/>
          </a:solidFill>
          <a:ln w="12700">
            <a:solidFill>
              <a:srgbClr val="E6F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chỉ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029968"/>
            <a:ext cx="502920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057400"/>
            <a:ext cx="50292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python.org; VS Code: code.visualstudio.com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Nature LaTeX: overleaf.com/latex/templates/springer-nature-latex-template/myxmhdsbzkyd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ACIIDS: aciids.pwr.edu.pl/2027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INSTICC: portal.insticc.org/deadlines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 Labs: mirlabs.org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 Q: scimagojr.com; tra CORE: portal.core.edu.au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môn CF, Trường Đại học FPT TP.HCM, Fall 2026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2026-09-07T03:32:47Z</dcterms:created>
  <dcterms:modified xsi:type="dcterms:W3CDTF">2026-09-07T03:32:47Z</dcterms:modified>
</cp:coreProperties>
</file>