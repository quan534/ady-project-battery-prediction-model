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1"/>
  </p:sldMasterIdLst>
  <p:notesMasterIdLst>
    <p:notesMasterId r:id="rId29"/>
  </p:notesMasterIdLst>
  <p:sldIdLst>
    <p:sldId id="295" r:id="rId2"/>
    <p:sldId id="257" r:id="rId3"/>
    <p:sldId id="258" r:id="rId4"/>
    <p:sldId id="259" r:id="rId5"/>
    <p:sldId id="296" r:id="rId6"/>
    <p:sldId id="298" r:id="rId7"/>
    <p:sldId id="299" r:id="rId8"/>
    <p:sldId id="297" r:id="rId9"/>
    <p:sldId id="303" r:id="rId10"/>
    <p:sldId id="301" r:id="rId11"/>
    <p:sldId id="300" r:id="rId12"/>
    <p:sldId id="260" r:id="rId13"/>
    <p:sldId id="283" r:id="rId14"/>
    <p:sldId id="284" r:id="rId15"/>
    <p:sldId id="293" r:id="rId16"/>
    <p:sldId id="294" r:id="rId17"/>
    <p:sldId id="286" r:id="rId18"/>
    <p:sldId id="261" r:id="rId19"/>
    <p:sldId id="262" r:id="rId20"/>
    <p:sldId id="287" r:id="rId21"/>
    <p:sldId id="288" r:id="rId22"/>
    <p:sldId id="289" r:id="rId23"/>
    <p:sldId id="290" r:id="rId24"/>
    <p:sldId id="291" r:id="rId25"/>
    <p:sldId id="292" r:id="rId26"/>
    <p:sldId id="282" r:id="rId27"/>
    <p:sldId id="280" r:id="rId28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B749D-D880-42C7-835F-82B6F0FD7B2D}" v="1" dt="2026-06-01T03:23:34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4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5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Nhat Tung" userId="77b0905b33e1f80d" providerId="LiveId" clId="{A4964FA4-2953-4C64-887E-A60447789925}"/>
    <pc:docChg chg="addSld delSld modSld">
      <pc:chgData name="Le Nhat Tung" userId="77b0905b33e1f80d" providerId="LiveId" clId="{A4964FA4-2953-4C64-887E-A60447789925}" dt="2026-06-01T03:25:39.958" v="69" actId="1076"/>
      <pc:docMkLst>
        <pc:docMk/>
      </pc:docMkLst>
      <pc:sldChg chg="del">
        <pc:chgData name="Le Nhat Tung" userId="77b0905b33e1f80d" providerId="LiveId" clId="{A4964FA4-2953-4C64-887E-A60447789925}" dt="2026-06-01T03:23:50.596" v="62" actId="47"/>
        <pc:sldMkLst>
          <pc:docMk/>
          <pc:sldMk cId="0" sldId="279"/>
        </pc:sldMkLst>
      </pc:sldChg>
      <pc:sldChg chg="modSp mod">
        <pc:chgData name="Le Nhat Tung" userId="77b0905b33e1f80d" providerId="LiveId" clId="{A4964FA4-2953-4C64-887E-A60447789925}" dt="2026-06-01T03:22:42.695" v="51" actId="20577"/>
        <pc:sldMkLst>
          <pc:docMk/>
          <pc:sldMk cId="0" sldId="288"/>
        </pc:sldMkLst>
        <pc:graphicFrameChg chg="modGraphic">
          <ac:chgData name="Le Nhat Tung" userId="77b0905b33e1f80d" providerId="LiveId" clId="{A4964FA4-2953-4C64-887E-A60447789925}" dt="2026-06-01T03:22:42.695" v="51" actId="20577"/>
          <ac:graphicFrameMkLst>
            <pc:docMk/>
            <pc:sldMk cId="0" sldId="288"/>
            <ac:graphicFrameMk id="4" creationId="{00000000-0000-0000-0000-000000000000}"/>
          </ac:graphicFrameMkLst>
        </pc:graphicFrameChg>
      </pc:sldChg>
      <pc:sldChg chg="modSp mod">
        <pc:chgData name="Le Nhat Tung" userId="77b0905b33e1f80d" providerId="LiveId" clId="{A4964FA4-2953-4C64-887E-A60447789925}" dt="2026-06-01T03:23:18.666" v="60" actId="20577"/>
        <pc:sldMkLst>
          <pc:docMk/>
          <pc:sldMk cId="0" sldId="291"/>
        </pc:sldMkLst>
        <pc:spChg chg="mod">
          <ac:chgData name="Le Nhat Tung" userId="77b0905b33e1f80d" providerId="LiveId" clId="{A4964FA4-2953-4C64-887E-A60447789925}" dt="2026-06-01T03:23:18.666" v="60" actId="20577"/>
          <ac:spMkLst>
            <pc:docMk/>
            <pc:sldMk cId="0" sldId="291"/>
            <ac:spMk id="4" creationId="{00000000-0000-0000-0000-000000000000}"/>
          </ac:spMkLst>
        </pc:spChg>
      </pc:sldChg>
      <pc:sldChg chg="addSp modSp add mod">
        <pc:chgData name="Le Nhat Tung" userId="77b0905b33e1f80d" providerId="LiveId" clId="{A4964FA4-2953-4C64-887E-A60447789925}" dt="2026-06-01T03:25:39.958" v="69" actId="1076"/>
        <pc:sldMkLst>
          <pc:docMk/>
          <pc:sldMk cId="0" sldId="295"/>
        </pc:sldMkLst>
        <pc:picChg chg="add mod">
          <ac:chgData name="Le Nhat Tung" userId="77b0905b33e1f80d" providerId="LiveId" clId="{A4964FA4-2953-4C64-887E-A60447789925}" dt="2026-06-01T03:25:39.958" v="69" actId="1076"/>
          <ac:picMkLst>
            <pc:docMk/>
            <pc:sldMk cId="0" sldId="295"/>
            <ac:picMk id="3" creationId="{0F432BE8-E2E0-949D-EAF2-415305F0F0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37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55A7-2FE5-9FEA-C3D7-9F09A3926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033D3-C440-6144-162B-65F8DDE0B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C16D4-BF48-2CEE-03EB-67832ED75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FF41F-77BF-4EBB-56AF-442A6E30E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94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3B183-F94F-67E1-E429-9092775D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18400-1CA8-DE64-FA89-EAD49EEB7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2F29C-F9BA-1106-23BB-1B8E22CD7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B2477-5B2F-0015-4AB2-EB57052D0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53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57E5E-16D9-0FCA-1C48-ED63387C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0C953-8A30-3D02-8222-545F58D93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3DE66-5BA6-F661-7F11-42EBFC30D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6B4B3-C1C5-27D5-8D94-01C9B9D5EB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44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A2F87-56AD-CD7D-D93E-855B48E4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7C0F1-E434-1E6C-6751-CBB5226D8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8A760-DF27-1BC9-FF26-10EF191FC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D1B0E-41B7-EC4C-97D4-4EFC5290C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25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A4BF-E566-DAEF-042D-7550B4A0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7D3AF-102D-6F9C-579C-BDA435A46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9AC4F-BE29-47F3-BF01-D115BA755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E516E-1B80-68E4-F52D-E6AA9CF6F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26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2D3E-3111-CC89-0AAD-26357AA8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56225-457F-1439-598C-3769FBA1E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BDBC0-2D06-0BE3-E5B5-C44513A5D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D45F2-5547-C21D-CD33-393BB89A4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69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7DD6A-91CC-4D54-6176-1BCA2275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5EC13-4DD6-DF5F-24FC-3500220A0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0202B-AB95-64FC-FE21-EB3BE3B5E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B63EC-3308-195D-B575-A3DC37EE7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38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3423-31C0-A7B1-D5F1-5D73359B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7ED6B-C6A7-A390-C64C-CB4EA35E3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FFE50-FE87-82A2-C134-49F387DF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DB6AB-1281-BC7F-45D8-B95280BF7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34BBB-3EB4-2080-5DC0-6DF31E7D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39BEB-A4F2-980F-E24C-B08AB51F2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00B6B-CA79-DA23-7D91-EFD834A35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52B9F-AD27-E43F-4A95-6285EA8BD1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87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3423-31C0-A7B1-D5F1-5D73359B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7ED6B-C6A7-A390-C64C-CB4EA35E3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FFE50-FE87-82A2-C134-49F387DF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DB6AB-1281-BC7F-45D8-B95280BF7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/>
        </p:nvSpPr>
        <p:spPr>
          <a:xfrm>
            <a:off x="1142999" y="2667001"/>
            <a:ext cx="6858000" cy="4320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08" y="584669"/>
            <a:ext cx="8177981" cy="1172951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909" y="2156870"/>
            <a:ext cx="6022181" cy="66632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0908" y="3012689"/>
            <a:ext cx="6022181" cy="871725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60908" y="4084776"/>
            <a:ext cx="6022181" cy="60543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8177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10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53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90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1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94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2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4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  <a:lvl2pPr marL="514350" indent="-171450" algn="just" defTabSz="685800" rtl="0" eaLnBrk="1" latinLnBrk="0" hangingPunct="1">
        <a:lnSpc>
          <a:spcPct val="110000"/>
        </a:lnSpc>
        <a:spcBef>
          <a:spcPts val="4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PROJECT TITLE</a:t>
            </a:r>
            <a:endParaRPr lang="vi-VN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560909" y="4225670"/>
            <a:ext cx="6022181" cy="666324"/>
          </a:xfrm>
        </p:spPr>
        <p:txBody>
          <a:bodyPr/>
          <a:lstStyle/>
          <a:p>
            <a:r>
              <a:rPr lang="en-US" sz="2000" dirty="0"/>
              <a:t>Ho Chi Minh City, Year</a:t>
            </a:r>
            <a:endParaRPr lang="vi-VN" sz="2000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83010" y="2428875"/>
            <a:ext cx="2461990" cy="871725"/>
          </a:xfrm>
        </p:spPr>
        <p:txBody>
          <a:bodyPr>
            <a:noAutofit/>
          </a:bodyPr>
          <a:lstStyle/>
          <a:p>
            <a:r>
              <a:rPr lang="en-US" sz="2000" dirty="0"/>
              <a:t>Students:</a:t>
            </a:r>
            <a:endParaRPr lang="vi-VN" sz="1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2ECFBEB-DBC9-E8DA-B66E-39EEC382F40D}"/>
              </a:ext>
            </a:extLst>
          </p:cNvPr>
          <p:cNvSpPr txBox="1">
            <a:spLocks/>
          </p:cNvSpPr>
          <p:nvPr/>
        </p:nvSpPr>
        <p:spPr>
          <a:xfrm>
            <a:off x="5398113" y="2428875"/>
            <a:ext cx="3049979" cy="666324"/>
          </a:xfrm>
        </p:spPr>
        <p:txBody>
          <a:bodyPr/>
          <a:lstStyle>
            <a:lvl1pPr marL="0" indent="0" algn="ctr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514350" indent="-171450" algn="just" defTabSz="685800" rtl="0" eaLnBrk="1" latinLnBrk="0" hangingPunct="1">
              <a:lnSpc>
                <a:spcPct val="110000"/>
              </a:lnSpc>
              <a:spcBef>
                <a:spcPts val="450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Supervisor:</a:t>
            </a:r>
            <a:endParaRPr lang="vi-VN" sz="1800" dirty="0"/>
          </a:p>
        </p:txBody>
      </p:sp>
      <p:pic>
        <p:nvPicPr>
          <p:cNvPr id="3" name="Picture 2" descr="Tập tin:Logo Trường Đại học FPT.svg – Wikipedia tiếng Việt">
            <a:extLst>
              <a:ext uri="{FF2B5EF4-FFF2-40B4-BE49-F238E27FC236}">
                <a16:creationId xmlns:a16="http://schemas.microsoft.com/office/drawing/2014/main" id="{0F432BE8-E2E0-949D-EAF2-415305F0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65" y="64909"/>
            <a:ext cx="944648" cy="3682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— Nội dung trình bày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báo cáo gồm 3 phần chính:</a:t>
            </a:r>
            <a:endParaRPr lang="vi-VN" sz="1600" dirty="0"/>
          </a:p>
          <a:p>
            <a:pPr>
              <a:spcAft>
                <a:spcPts val="200"/>
              </a:spcAft>
              <a:buNone/>
            </a:pPr>
            <a:endParaRPr lang="vi-VN" sz="300" dirty="0"/>
          </a:p>
          <a:p>
            <a:pPr marL="0" indent="0" algn="l">
              <a:spcAft>
                <a:spcPts val="250"/>
              </a:spcAft>
              <a:buNone/>
            </a:pPr>
            <a:r>
              <a:rPr lang="vi-VN" sz="1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Understanding the Problem &amp; Data</a:t>
            </a:r>
            <a:endParaRPr lang="vi-VN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vi-VN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Research Questions · Data Understanding · SQL Queries</a:t>
            </a:r>
            <a:endParaRPr lang="vi-VN" sz="1300" dirty="0"/>
          </a:p>
          <a:p>
            <a:pPr marL="0" indent="0" algn="l">
              <a:spcAft>
                <a:spcPts val="250"/>
              </a:spcAft>
              <a:buNone/>
            </a:pPr>
            <a:r>
              <a:rPr lang="vi-VN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Python Analysis &amp; Visualization</a:t>
            </a:r>
            <a:endParaRPr lang="vi-VN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vi-VN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with Python · Visualization &amp; Evidence-Based Insights</a:t>
            </a:r>
            <a:endParaRPr lang="vi-VN" sz="1300" dirty="0"/>
          </a:p>
          <a:p>
            <a:pPr marL="0" indent="0" algn="l">
              <a:spcAft>
                <a:spcPts val="250"/>
              </a:spcAft>
              <a:buNone/>
            </a:pPr>
            <a:r>
              <a:rPr lang="vi-VN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Modeling, Tool &amp; AI Reflection</a:t>
            </a:r>
            <a:endParaRPr lang="vi-VN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vi-VN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· Analysis Tool · Q&amp;A + AI Reflection (20 pts)</a:t>
            </a:r>
            <a:endParaRPr lang="vi-VN" sz="1300" dirty="0"/>
          </a:p>
          <a:p>
            <a:pPr>
              <a:spcAft>
                <a:spcPts val="200"/>
              </a:spcAft>
              <a:buNone/>
            </a:pPr>
            <a:endParaRPr lang="vi-VN" sz="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Sinh viên trình bày bằng tiếng Anh. Slide hướng dẫn ghi bằng tiếng Việt để dễ đọc.</a:t>
            </a:r>
            <a:endParaRPr lang="vi-V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t1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vi-VN"/>
          </a:p>
        </p:txBody>
      </p:sp>
      <p:sp>
        <p:nvSpPr>
          <p:cNvPr id="3" name="Box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vi-VN" dirty="0"/>
          </a:p>
        </p:txBody>
      </p:sp>
      <p:sp>
        <p:nvSpPr>
          <p:cNvPr id="4" name="Box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Problem &amp; Data</a:t>
            </a:r>
            <a:endParaRPr lang="vi-VN" dirty="0"/>
          </a:p>
        </p:txBody>
      </p:sp>
      <p:sp>
        <p:nvSpPr>
          <p:cNvPr id="10" name="Box10"/>
          <p:cNvSpPr/>
          <p:nvPr/>
        </p:nvSpPr>
        <p:spPr>
          <a:xfrm>
            <a:off x="322000" y="2900000"/>
            <a:ext cx="2125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vi-VN" dirty="0"/>
          </a:p>
        </p:txBody>
      </p:sp>
      <p:sp>
        <p:nvSpPr>
          <p:cNvPr id="11" name="Box11"/>
          <p:cNvSpPr/>
          <p:nvPr/>
        </p:nvSpPr>
        <p:spPr>
          <a:xfrm>
            <a:off x="2497000" y="2900000"/>
            <a:ext cx="2125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vi-VN" dirty="0"/>
          </a:p>
        </p:txBody>
      </p:sp>
      <p:sp>
        <p:nvSpPr>
          <p:cNvPr id="12" name="Box12"/>
          <p:cNvSpPr/>
          <p:nvPr/>
        </p:nvSpPr>
        <p:spPr>
          <a:xfrm>
            <a:off x="4672000" y="2900000"/>
            <a:ext cx="2125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vi-VN" dirty="0"/>
          </a:p>
        </p:txBody>
      </p:sp>
      <p:sp>
        <p:nvSpPr>
          <p:cNvPr id="13" name="Box13"/>
          <p:cNvSpPr/>
          <p:nvPr/>
        </p:nvSpPr>
        <p:spPr>
          <a:xfrm>
            <a:off x="6847000" y="2900000"/>
            <a:ext cx="2125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vi-V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dẫn: Nhóm đặt ít nhất 3 Research Questions rõ ràng, có thể trả lời được bằng dữ liệu.</a:t>
            </a:r>
            <a:endParaRPr lang="vi-VN" sz="13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3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RQ phải liên kết với ít nhất 1 SQL query hoặc Python analysis ở phần sau.</a:t>
            </a:r>
            <a:endParaRPr lang="vi-VN" sz="1350" dirty="0"/>
          </a:p>
          <a:p>
            <a:pPr>
              <a:spcAft>
                <a:spcPts val="200"/>
              </a:spcAft>
              <a:buNone/>
            </a:pPr>
            <a:endParaRPr lang="vi-VN" sz="400" dirty="0"/>
          </a:p>
          <a:p>
            <a:pPr>
              <a:spcAft>
                <a:spcPts val="150"/>
              </a:spcAft>
            </a:pPr>
            <a:r>
              <a:rPr lang="vi-VN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[RQ1] </a:t>
            </a:r>
            <a:r>
              <a:rPr lang="en-US" sz="1400" dirty="0"/>
              <a:t>Out of the 167 charging features, which groups actually help predict battery capacity on unseen cars and in new time periods, and how many features are really needed?</a:t>
            </a:r>
          </a:p>
          <a:p>
            <a:pPr>
              <a:spcAft>
                <a:spcPts val="150"/>
              </a:spcAft>
            </a:pP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vi-VN" sz="12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to: SQL </a:t>
            </a:r>
            <a:r>
              <a:rPr lang="vi-VN" sz="12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GROUP BY </a:t>
            </a:r>
            <a:r>
              <a:rPr lang="vi-VN" sz="12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vi-VN" sz="12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ORDER BY </a:t>
            </a:r>
            <a:r>
              <a:rPr lang="vi-VN" sz="12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</a:t>
            </a:r>
            <a:endParaRPr lang="vi-VN" sz="1250" dirty="0"/>
          </a:p>
          <a:p>
            <a:pPr>
              <a:spcAft>
                <a:spcPts val="150"/>
              </a:spcAft>
            </a:pPr>
            <a:r>
              <a:rPr lang="vi-VN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[RQ2] </a:t>
            </a:r>
            <a:r>
              <a:rPr lang="en-US" sz="1400" dirty="0"/>
              <a:t>When promising a 90% confidence prediction interval, which model gives the narrowest and most reliable range across the 3 setups (random split, unseen cars, future time), and how bad does the worst car get?</a:t>
            </a: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endParaRPr lang="en-US" sz="12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50"/>
              </a:spcAft>
            </a:pPr>
            <a:r>
              <a:rPr lang="vi-VN" sz="12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to: Python clustering / SQL subquery on customer transactions</a:t>
            </a:r>
            <a:endParaRPr lang="vi-VN" sz="1250" dirty="0"/>
          </a:p>
          <a:p>
            <a:pPr>
              <a:spcAft>
                <a:spcPts val="150"/>
              </a:spcAft>
            </a:pPr>
            <a:r>
              <a:rPr lang="vi-VN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[RQ3] </a:t>
            </a:r>
            <a:r>
              <a:rPr lang="en-US" sz="1400" dirty="0"/>
              <a:t>With a limited target label budget, what is the best strategy: Recalibration vs. Retraining, Uniform vs. Adaptive allocation, or Global vs. Mondrian calibration?</a:t>
            </a: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50"/>
              </a:spcAft>
            </a:pP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Link to: Regression model + SQL correlation query on order features</a:t>
            </a:r>
            <a:endParaRPr lang="vi-VN" sz="1250" dirty="0"/>
          </a:p>
          <a:p>
            <a:pPr>
              <a:spcAft>
                <a:spcPts val="200"/>
              </a:spcAft>
              <a:buNone/>
            </a:pPr>
            <a:endParaRPr lang="vi-VN" sz="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Nhóm thay các ví dụ trên bằng Research Questions thực tế của dự án (ít nhất 3 RQ).</a:t>
            </a:r>
            <a:endParaRPr lang="vi-V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74B87-1F0C-9168-D5EC-24C4FA7F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>
            <a:extLst>
              <a:ext uri="{FF2B5EF4-FFF2-40B4-BE49-F238E27FC236}">
                <a16:creationId xmlns:a16="http://schemas.microsoft.com/office/drawing/2014/main" id="{785A7885-72C7-EF4A-70BA-33D4E6D4D087}"/>
              </a:ext>
            </a:extLst>
          </p:cNvPr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Problem Statement</a:t>
            </a:r>
            <a:endParaRPr lang="vi-VN" sz="2800" dirty="0"/>
          </a:p>
        </p:txBody>
      </p:sp>
      <p:sp>
        <p:nvSpPr>
          <p:cNvPr id="3" name="Div">
            <a:extLst>
              <a:ext uri="{FF2B5EF4-FFF2-40B4-BE49-F238E27FC236}">
                <a16:creationId xmlns:a16="http://schemas.microsoft.com/office/drawing/2014/main" id="{8AF91BBC-3BD8-731E-2CE9-38F236CAF4E5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797742A-A98A-17FF-6220-6D0F26A69A97}"/>
              </a:ext>
            </a:extLst>
          </p:cNvPr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600" b="1" dirty="0" err="1"/>
              <a:t>Bối</a:t>
            </a:r>
            <a:r>
              <a:rPr lang="en-US" sz="1600" b="1" dirty="0"/>
              <a:t> </a:t>
            </a:r>
            <a:r>
              <a:rPr lang="en-US" sz="1600" b="1" dirty="0" err="1"/>
              <a:t>cảnh</a:t>
            </a:r>
            <a:r>
              <a:rPr lang="en-US" sz="1600" b="1" dirty="0"/>
              <a:t> </a:t>
            </a:r>
            <a:r>
              <a:rPr lang="en-US" sz="1600" b="1" dirty="0" err="1"/>
              <a:t>thực</a:t>
            </a:r>
            <a:r>
              <a:rPr lang="en-US" sz="1600" b="1" dirty="0"/>
              <a:t> </a:t>
            </a:r>
            <a:r>
              <a:rPr lang="en-US" sz="1600" b="1" dirty="0" err="1"/>
              <a:t>tế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Việc</a:t>
            </a:r>
            <a:r>
              <a:rPr lang="en-US" sz="1600" dirty="0"/>
              <a:t> </a:t>
            </a:r>
            <a:r>
              <a:rPr lang="en-US" sz="1600" dirty="0" err="1"/>
              <a:t>ước</a:t>
            </a:r>
            <a:r>
              <a:rPr lang="en-US" sz="1600" dirty="0"/>
              <a:t> </a:t>
            </a:r>
            <a:r>
              <a:rPr lang="en-US" sz="1600" dirty="0" err="1"/>
              <a:t>lượng</a:t>
            </a:r>
            <a:r>
              <a:rPr lang="en-US" sz="1600" dirty="0"/>
              <a:t> dung </a:t>
            </a:r>
            <a:r>
              <a:rPr lang="en-US" sz="1600" dirty="0" err="1"/>
              <a:t>lượng</a:t>
            </a:r>
            <a:r>
              <a:rPr lang="en-US" sz="1600" dirty="0"/>
              <a:t> pin </a:t>
            </a:r>
            <a:r>
              <a:rPr lang="en-US" sz="1600" dirty="0" err="1"/>
              <a:t>đóng</a:t>
            </a:r>
            <a:r>
              <a:rPr lang="en-US" sz="1600" dirty="0"/>
              <a:t> </a:t>
            </a:r>
            <a:r>
              <a:rPr lang="en-US" sz="1600" dirty="0" err="1"/>
              <a:t>vai</a:t>
            </a:r>
            <a:r>
              <a:rPr lang="en-US" sz="1600" dirty="0"/>
              <a:t> </a:t>
            </a:r>
            <a:r>
              <a:rPr lang="en-US" sz="1600" dirty="0" err="1"/>
              <a:t>trò</a:t>
            </a:r>
            <a:r>
              <a:rPr lang="en-US" sz="1600" dirty="0"/>
              <a:t> </a:t>
            </a:r>
            <a:r>
              <a:rPr lang="en-US" sz="1600" dirty="0" err="1"/>
              <a:t>sống</a:t>
            </a:r>
            <a:r>
              <a:rPr lang="en-US" sz="1600" dirty="0"/>
              <a:t> </a:t>
            </a:r>
            <a:r>
              <a:rPr lang="en-US" sz="1600" dirty="0" err="1"/>
              <a:t>còn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quản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en-US" sz="1600" dirty="0"/>
              <a:t> </a:t>
            </a:r>
            <a:r>
              <a:rPr lang="en-US" sz="1600" dirty="0" err="1"/>
              <a:t>xe</a:t>
            </a:r>
            <a:r>
              <a:rPr lang="en-US" sz="1600" dirty="0"/>
              <a:t> </a:t>
            </a:r>
            <a:r>
              <a:rPr lang="en-US" sz="1600" dirty="0" err="1"/>
              <a:t>điện</a:t>
            </a:r>
            <a:r>
              <a:rPr lang="en-US" sz="1600" dirty="0"/>
              <a:t>. Tuy </a:t>
            </a:r>
            <a:r>
              <a:rPr lang="en-US" sz="1600" dirty="0" err="1"/>
              <a:t>nhiên</a:t>
            </a:r>
            <a:r>
              <a:rPr lang="en-US" sz="1600" dirty="0"/>
              <a:t>,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học</a:t>
            </a:r>
            <a:r>
              <a:rPr lang="en-US" sz="1600" dirty="0"/>
              <a:t> </a:t>
            </a:r>
            <a:r>
              <a:rPr lang="en-US" sz="1600" dirty="0" err="1"/>
              <a:t>máy</a:t>
            </a:r>
            <a:r>
              <a:rPr lang="en-US" sz="1600" dirty="0"/>
              <a:t> </a:t>
            </a:r>
            <a:r>
              <a:rPr lang="en-US" sz="1600" dirty="0" err="1"/>
              <a:t>hiện</a:t>
            </a:r>
            <a:r>
              <a:rPr lang="en-US" sz="1600" dirty="0"/>
              <a:t> nay </a:t>
            </a:r>
            <a:r>
              <a:rPr lang="en-US" sz="1600" dirty="0" err="1"/>
              <a:t>chủ</a:t>
            </a:r>
            <a:r>
              <a:rPr lang="en-US" sz="1600" dirty="0"/>
              <a:t> </a:t>
            </a:r>
            <a:r>
              <a:rPr lang="en-US" sz="1600" dirty="0" err="1"/>
              <a:t>yếu</a:t>
            </a:r>
            <a:r>
              <a:rPr lang="en-US" sz="1600" dirty="0"/>
              <a:t> </a:t>
            </a:r>
            <a:r>
              <a:rPr lang="en-US" sz="1600" dirty="0" err="1"/>
              <a:t>đưa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r>
              <a:rPr lang="en-US" sz="1600" dirty="0"/>
              <a:t>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  <a:r>
              <a:rPr lang="en-US" sz="1600" dirty="0" err="1"/>
              <a:t>điểm</a:t>
            </a:r>
            <a:r>
              <a:rPr lang="en-US" sz="1600" dirty="0"/>
              <a:t>, con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này</a:t>
            </a:r>
            <a:r>
              <a:rPr lang="en-US" sz="1600" dirty="0"/>
              <a:t> </a:t>
            </a:r>
            <a:r>
              <a:rPr lang="en-US" sz="1600" dirty="0" err="1"/>
              <a:t>thiếu</a:t>
            </a:r>
            <a:r>
              <a:rPr lang="en-US" sz="1600" dirty="0"/>
              <a:t> </a:t>
            </a:r>
            <a:r>
              <a:rPr lang="en-US" sz="1600" dirty="0" err="1"/>
              <a:t>giá</a:t>
            </a:r>
            <a:r>
              <a:rPr lang="en-US" sz="1600" dirty="0"/>
              <a:t> </a:t>
            </a:r>
            <a:r>
              <a:rPr lang="en-US" sz="1600" dirty="0" err="1"/>
              <a:t>trị</a:t>
            </a:r>
            <a:r>
              <a:rPr lang="en-US" sz="1600" dirty="0"/>
              <a:t> tin </a:t>
            </a:r>
            <a:r>
              <a:rPr lang="en-US" sz="1600" dirty="0" err="1"/>
              <a:t>cậy</a:t>
            </a:r>
            <a:r>
              <a:rPr lang="en-US" sz="1600" dirty="0"/>
              <a:t> </a:t>
            </a:r>
            <a:r>
              <a:rPr lang="en-US" sz="1600" dirty="0" err="1"/>
              <a:t>thực</a:t>
            </a:r>
            <a:r>
              <a:rPr lang="en-US" sz="1600" dirty="0"/>
              <a:t> </a:t>
            </a:r>
            <a:r>
              <a:rPr lang="en-US" sz="1600" dirty="0" err="1"/>
              <a:t>tế</a:t>
            </a:r>
            <a:r>
              <a:rPr lang="en-US" sz="1600" dirty="0"/>
              <a:t> </a:t>
            </a:r>
            <a:r>
              <a:rPr lang="en-US" sz="1600" dirty="0" err="1"/>
              <a:t>nếu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kèm</a:t>
            </a:r>
            <a:r>
              <a:rPr lang="en-US" sz="1600" dirty="0"/>
              <a:t> </a:t>
            </a:r>
            <a:r>
              <a:rPr lang="en-US" sz="1600" dirty="0" err="1"/>
              <a:t>theo</a:t>
            </a:r>
            <a:r>
              <a:rPr lang="en-US" sz="1600" dirty="0"/>
              <a:t> </a:t>
            </a:r>
            <a:r>
              <a:rPr lang="en-US" sz="1600" dirty="0" err="1"/>
              <a:t>khoảng</a:t>
            </a:r>
            <a:r>
              <a:rPr lang="en-US" sz="1600" dirty="0"/>
              <a:t> </a:t>
            </a:r>
            <a:r>
              <a:rPr lang="en-US" sz="1600" dirty="0" err="1"/>
              <a:t>sai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. </a:t>
            </a:r>
            <a:r>
              <a:rPr lang="en-US" sz="1600" dirty="0" err="1"/>
              <a:t>Khoảng</a:t>
            </a:r>
            <a:r>
              <a:rPr lang="en-US" sz="1600" dirty="0"/>
              <a:t>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báo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tham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(</a:t>
            </a:r>
            <a:r>
              <a:rPr lang="en-US" sz="1600" b="1" dirty="0"/>
              <a:t>Conformal Prediction)</a:t>
            </a:r>
            <a:r>
              <a:rPr lang="en-US" sz="1600" dirty="0"/>
              <a:t> </a:t>
            </a:r>
            <a:r>
              <a:rPr lang="en-US" sz="1600" dirty="0" err="1"/>
              <a:t>cung</a:t>
            </a:r>
            <a:r>
              <a:rPr lang="en-US" sz="1600" dirty="0"/>
              <a:t> </a:t>
            </a:r>
            <a:r>
              <a:rPr lang="en-US" sz="1600" dirty="0" err="1"/>
              <a:t>cấp</a:t>
            </a:r>
            <a:r>
              <a:rPr lang="en-US" sz="1600" dirty="0"/>
              <a:t> cam </a:t>
            </a:r>
            <a:r>
              <a:rPr lang="en-US" sz="1600" dirty="0" err="1"/>
              <a:t>kết</a:t>
            </a:r>
            <a:r>
              <a:rPr lang="en-US" sz="1600" dirty="0"/>
              <a:t> bao </a:t>
            </a:r>
            <a:r>
              <a:rPr lang="en-US" sz="1600" dirty="0" err="1"/>
              <a:t>phủ</a:t>
            </a:r>
            <a:r>
              <a:rPr lang="en-US" sz="1600" dirty="0"/>
              <a:t> </a:t>
            </a:r>
            <a:r>
              <a:rPr lang="en-US" sz="1600" dirty="0" err="1"/>
              <a:t>thống</a:t>
            </a:r>
            <a:r>
              <a:rPr lang="en-US" sz="1600" dirty="0"/>
              <a:t> </a:t>
            </a:r>
            <a:r>
              <a:rPr lang="en-US" sz="1600" dirty="0" err="1"/>
              <a:t>kê</a:t>
            </a:r>
            <a:r>
              <a:rPr lang="en-US" sz="1600" dirty="0"/>
              <a:t> </a:t>
            </a:r>
            <a:r>
              <a:rPr lang="en-US" sz="1600" dirty="0" err="1"/>
              <a:t>hữu</a:t>
            </a:r>
            <a:r>
              <a:rPr lang="en-US" sz="1600" dirty="0"/>
              <a:t> </a:t>
            </a:r>
            <a:r>
              <a:rPr lang="en-US" sz="1600" dirty="0" err="1"/>
              <a:t>hạn</a:t>
            </a:r>
            <a:r>
              <a:rPr lang="en-US" sz="1600" dirty="0"/>
              <a:t> </a:t>
            </a:r>
            <a:r>
              <a:rPr lang="en-US" sz="1600" dirty="0" err="1"/>
              <a:t>mẫu</a:t>
            </a:r>
            <a:r>
              <a:rPr lang="en-US" sz="1600" dirty="0"/>
              <a:t>. </a:t>
            </a:r>
          </a:p>
          <a:p>
            <a:pPr marL="0" marR="0">
              <a:buNone/>
            </a:pPr>
            <a:r>
              <a:rPr lang="en-US" sz="1600" b="1" dirty="0" err="1">
                <a:effectLst/>
                <a:latin typeface="Google Sans Text"/>
              </a:rPr>
              <a:t>Vấn</a:t>
            </a:r>
            <a:r>
              <a:rPr lang="en-US" sz="1600" b="1" dirty="0">
                <a:effectLst/>
                <a:latin typeface="Google Sans Text"/>
              </a:rPr>
              <a:t> </a:t>
            </a:r>
            <a:r>
              <a:rPr lang="en-US" sz="1600" b="1" dirty="0" err="1">
                <a:effectLst/>
                <a:latin typeface="Google Sans Text"/>
              </a:rPr>
              <a:t>đề</a:t>
            </a:r>
            <a:r>
              <a:rPr lang="en-US" sz="1600" b="1" dirty="0">
                <a:effectLst/>
                <a:latin typeface="Google Sans Text"/>
              </a:rPr>
              <a:t> </a:t>
            </a:r>
            <a:r>
              <a:rPr lang="en-US" sz="1600" b="1" dirty="0" err="1">
                <a:effectLst/>
                <a:latin typeface="Google Sans Text"/>
              </a:rPr>
              <a:t>cốt</a:t>
            </a:r>
            <a:r>
              <a:rPr lang="en-US" sz="1600" b="1" dirty="0">
                <a:effectLst/>
                <a:latin typeface="Google Sans Text"/>
              </a:rPr>
              <a:t> </a:t>
            </a:r>
            <a:r>
              <a:rPr lang="en-US" sz="1600" b="1" dirty="0" err="1">
                <a:effectLst/>
                <a:latin typeface="Google Sans Text"/>
              </a:rPr>
              <a:t>lõi</a:t>
            </a:r>
            <a:r>
              <a:rPr lang="en-US" sz="1600" b="1" dirty="0">
                <a:effectLst/>
                <a:latin typeface="Google Sans Text"/>
              </a:rPr>
              <a:t>:</a:t>
            </a:r>
            <a:r>
              <a:rPr lang="en-US" sz="1600" dirty="0">
                <a:effectLst/>
                <a:latin typeface="Google Sans Text"/>
              </a:rPr>
              <a:t> Khi </a:t>
            </a:r>
            <a:r>
              <a:rPr lang="en-US" sz="1600" dirty="0" err="1">
                <a:effectLst/>
                <a:latin typeface="Google Sans Text"/>
              </a:rPr>
              <a:t>triển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khai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thực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tế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trên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đội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xe</a:t>
            </a:r>
            <a:r>
              <a:rPr lang="en-US" sz="1600" dirty="0">
                <a:effectLst/>
                <a:latin typeface="Google Sans Text"/>
              </a:rPr>
              <a:t>, </a:t>
            </a:r>
            <a:r>
              <a:rPr lang="en-US" sz="1600" dirty="0" err="1">
                <a:effectLst/>
                <a:latin typeface="Google Sans Text"/>
              </a:rPr>
              <a:t>dữ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liệu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luôn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đối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mặt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với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b="1" dirty="0" err="1">
                <a:effectLst/>
                <a:latin typeface="Google Sans Text"/>
              </a:rPr>
              <a:t>dịch</a:t>
            </a:r>
            <a:r>
              <a:rPr lang="en-US" sz="1600" b="1" dirty="0">
                <a:effectLst/>
                <a:latin typeface="Google Sans Text"/>
              </a:rPr>
              <a:t> </a:t>
            </a:r>
            <a:r>
              <a:rPr lang="en-US" sz="1600" b="1" dirty="0" err="1">
                <a:effectLst/>
                <a:latin typeface="Google Sans Text"/>
              </a:rPr>
              <a:t>chuyển</a:t>
            </a:r>
            <a:r>
              <a:rPr lang="en-US" sz="1600" b="1" dirty="0">
                <a:effectLst/>
                <a:latin typeface="Google Sans Text"/>
              </a:rPr>
              <a:t> </a:t>
            </a:r>
            <a:r>
              <a:rPr lang="en-US" sz="1600" b="1" dirty="0" err="1">
                <a:effectLst/>
                <a:latin typeface="Google Sans Text"/>
              </a:rPr>
              <a:t>phân</a:t>
            </a:r>
            <a:r>
              <a:rPr lang="en-US" sz="1600" b="1" dirty="0">
                <a:effectLst/>
                <a:latin typeface="Google Sans Text"/>
              </a:rPr>
              <a:t> </a:t>
            </a:r>
            <a:r>
              <a:rPr lang="en-US" sz="1600" b="1" dirty="0" err="1">
                <a:effectLst/>
                <a:latin typeface="Google Sans Text"/>
              </a:rPr>
              <a:t>phối</a:t>
            </a:r>
            <a:r>
              <a:rPr lang="en-US" sz="1600" b="1" dirty="0">
                <a:effectLst/>
                <a:latin typeface="Google Sans Text"/>
              </a:rPr>
              <a:t> (Distribution Shift)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trên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hai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trục</a:t>
            </a:r>
            <a:r>
              <a:rPr lang="en-US" sz="1600" dirty="0">
                <a:effectLst/>
                <a:latin typeface="Google Sans Text"/>
              </a:rPr>
              <a:t>: 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en-US" sz="1600" i="1" dirty="0" err="1">
                <a:effectLst/>
                <a:latin typeface="Google Sans Text"/>
              </a:rPr>
              <a:t>Đổi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xe</a:t>
            </a:r>
            <a:r>
              <a:rPr lang="en-US" sz="1600" i="1" dirty="0">
                <a:effectLst/>
                <a:latin typeface="Google Sans Text"/>
              </a:rPr>
              <a:t> (Cross-vehicle shift):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Dự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báo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trên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một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chiếc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xe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mới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chưa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từng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có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trong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tập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huấn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luyện</a:t>
            </a:r>
            <a:r>
              <a:rPr lang="en-US" sz="1600" dirty="0">
                <a:effectLst/>
                <a:latin typeface="Google Sans Text"/>
              </a:rPr>
              <a:t>. 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en-US" sz="1600" i="1" dirty="0" err="1">
                <a:effectLst/>
                <a:latin typeface="Google Sans Text"/>
              </a:rPr>
              <a:t>Đổi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thời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kỳ</a:t>
            </a:r>
            <a:r>
              <a:rPr lang="en-US" sz="1600" i="1" dirty="0">
                <a:effectLst/>
                <a:latin typeface="Google Sans Text"/>
              </a:rPr>
              <a:t> (Temporal shift / Battery aging):</a:t>
            </a:r>
            <a:r>
              <a:rPr lang="en-US" sz="1600" dirty="0">
                <a:effectLst/>
                <a:latin typeface="Google Sans Text"/>
              </a:rPr>
              <a:t> Pin </a:t>
            </a:r>
            <a:r>
              <a:rPr lang="en-US" sz="1600" dirty="0" err="1">
                <a:effectLst/>
                <a:latin typeface="Google Sans Text"/>
              </a:rPr>
              <a:t>bị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thoái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hóa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và</a:t>
            </a:r>
            <a:r>
              <a:rPr lang="en-US" sz="1600" dirty="0">
                <a:effectLst/>
                <a:latin typeface="Google Sans Text"/>
              </a:rPr>
              <a:t> dung </a:t>
            </a:r>
            <a:r>
              <a:rPr lang="en-US" sz="1600" dirty="0" err="1">
                <a:effectLst/>
                <a:latin typeface="Google Sans Text"/>
              </a:rPr>
              <a:t>lượng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sụt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giảm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theo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thời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gian</a:t>
            </a:r>
            <a:r>
              <a:rPr lang="en-US" sz="1600" dirty="0">
                <a:effectLst/>
                <a:latin typeface="Google Sans Text"/>
              </a:rPr>
              <a:t> (</a:t>
            </a:r>
            <a:r>
              <a:rPr lang="en-US" sz="1600" dirty="0" err="1">
                <a:effectLst/>
                <a:latin typeface="Google Sans Text"/>
              </a:rPr>
              <a:t>dữ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liệu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kiểm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tra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nhiều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tháng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sau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tập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huấn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luyện</a:t>
            </a:r>
            <a:r>
              <a:rPr lang="en-US" sz="1600" dirty="0">
                <a:effectLst/>
                <a:latin typeface="Google Sans Text"/>
              </a:rPr>
              <a:t>). </a:t>
            </a:r>
          </a:p>
          <a:p>
            <a:pPr marR="0" lvl="0"/>
            <a:r>
              <a:rPr lang="en-US" sz="1600" dirty="0" err="1"/>
              <a:t>Dịch</a:t>
            </a:r>
            <a:r>
              <a:rPr lang="en-US" sz="1600" dirty="0"/>
              <a:t> </a:t>
            </a:r>
            <a:r>
              <a:rPr lang="en-US" sz="1600" dirty="0" err="1"/>
              <a:t>chuyển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r>
              <a:rPr lang="en-US" sz="1600" dirty="0"/>
              <a:t> </a:t>
            </a:r>
            <a:r>
              <a:rPr lang="en-US" sz="1600" dirty="0" err="1"/>
              <a:t>xe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r>
              <a:rPr lang="en-US" sz="1600" dirty="0"/>
              <a:t> </a:t>
            </a:r>
            <a:r>
              <a:rPr lang="en-US" sz="1600" dirty="0" err="1"/>
              <a:t>thời</a:t>
            </a:r>
            <a:r>
              <a:rPr lang="en-US" sz="1600" dirty="0"/>
              <a:t> </a:t>
            </a:r>
            <a:r>
              <a:rPr lang="en-US" sz="1600" dirty="0" err="1"/>
              <a:t>kỳ</a:t>
            </a:r>
            <a:r>
              <a:rPr lang="en-US" sz="1600" dirty="0"/>
              <a:t> </a:t>
            </a:r>
            <a:r>
              <a:rPr lang="en-US" sz="1600" dirty="0" err="1"/>
              <a:t>phá</a:t>
            </a:r>
            <a:r>
              <a:rPr lang="en-US" sz="1600" dirty="0"/>
              <a:t> </a:t>
            </a:r>
            <a:r>
              <a:rPr lang="en-US" sz="1600" dirty="0" err="1"/>
              <a:t>vỡ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hoán</a:t>
            </a:r>
            <a:r>
              <a:rPr lang="en-US" sz="1600" dirty="0"/>
              <a:t> </a:t>
            </a:r>
            <a:r>
              <a:rPr lang="en-US" sz="1600" dirty="0" err="1"/>
              <a:t>vị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, </a:t>
            </a:r>
            <a:r>
              <a:rPr lang="en-US" sz="1600" dirty="0" err="1"/>
              <a:t>khiến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bao </a:t>
            </a:r>
            <a:r>
              <a:rPr lang="en-US" sz="1600" dirty="0" err="1"/>
              <a:t>phủ</a:t>
            </a:r>
            <a:r>
              <a:rPr lang="en-US" sz="1600" dirty="0"/>
              <a:t> </a:t>
            </a:r>
            <a:r>
              <a:rPr lang="en-US" sz="1600" dirty="0" err="1"/>
              <a:t>thực</a:t>
            </a:r>
            <a:r>
              <a:rPr lang="en-US" sz="1600" dirty="0"/>
              <a:t> </a:t>
            </a:r>
            <a:r>
              <a:rPr lang="en-US" sz="1600" dirty="0" err="1"/>
              <a:t>tế</a:t>
            </a:r>
            <a:r>
              <a:rPr lang="en-US" sz="1600" dirty="0"/>
              <a:t> </a:t>
            </a:r>
            <a:r>
              <a:rPr lang="en-US" sz="1600" dirty="0" err="1"/>
              <a:t>giảm</a:t>
            </a:r>
            <a:r>
              <a:rPr lang="en-US" sz="1600" dirty="0"/>
              <a:t> </a:t>
            </a:r>
            <a:r>
              <a:rPr lang="en-US" sz="1600" dirty="0" err="1"/>
              <a:t>nghiêm</a:t>
            </a:r>
            <a:r>
              <a:rPr lang="en-US" sz="1600" dirty="0"/>
              <a:t> </a:t>
            </a:r>
            <a:r>
              <a:rPr lang="en-US" sz="1600" dirty="0" err="1"/>
              <a:t>trọng</a:t>
            </a:r>
            <a:r>
              <a:rPr lang="en-US" sz="1600" dirty="0"/>
              <a:t>. </a:t>
            </a:r>
          </a:p>
          <a:p>
            <a:pPr>
              <a:spcAft>
                <a:spcPts val="200"/>
              </a:spcAft>
            </a:pPr>
            <a:endParaRPr lang="en-US" sz="17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508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3C545-0F44-EF8D-E3BF-326E0085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>
            <a:extLst>
              <a:ext uri="{FF2B5EF4-FFF2-40B4-BE49-F238E27FC236}">
                <a16:creationId xmlns:a16="http://schemas.microsoft.com/office/drawing/2014/main" id="{33543E2E-74E1-8C0D-C8F0-F69DDFD29920}"/>
              </a:ext>
            </a:extLst>
          </p:cNvPr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Problem Statement</a:t>
            </a:r>
            <a:endParaRPr lang="vi-VN" sz="2800" dirty="0"/>
          </a:p>
        </p:txBody>
      </p:sp>
      <p:sp>
        <p:nvSpPr>
          <p:cNvPr id="3" name="Div">
            <a:extLst>
              <a:ext uri="{FF2B5EF4-FFF2-40B4-BE49-F238E27FC236}">
                <a16:creationId xmlns:a16="http://schemas.microsoft.com/office/drawing/2014/main" id="{874D5F95-3F52-81E9-C762-A2980C6BF2BB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7AA0977-66CC-7334-2BBA-02BF06D699E7}"/>
              </a:ext>
            </a:extLst>
          </p:cNvPr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200"/>
              </a:spcAft>
            </a:pPr>
            <a:r>
              <a:rPr lang="en-US" sz="1600" b="1" dirty="0"/>
              <a:t>Analytics objective:</a:t>
            </a:r>
          </a:p>
          <a:p>
            <a:pPr marL="0" marR="0">
              <a:buNone/>
            </a:pPr>
            <a:r>
              <a:rPr lang="en-US" sz="1600" dirty="0">
                <a:effectLst/>
                <a:latin typeface="Google Sans Text"/>
              </a:rPr>
              <a:t>• </a:t>
            </a:r>
            <a:r>
              <a:rPr lang="en-US" sz="1600" dirty="0" err="1">
                <a:effectLst/>
                <a:latin typeface="Google Sans Text"/>
              </a:rPr>
              <a:t>Xác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định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nhóm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đặc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trưng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vật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lý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từ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đường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cong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sạc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có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khả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năng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tổng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quát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hóa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ngoại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suy</a:t>
            </a:r>
            <a:r>
              <a:rPr lang="en-US" sz="1600" dirty="0">
                <a:effectLst/>
                <a:latin typeface="Google Sans Text"/>
              </a:rPr>
              <a:t> (OOD) </a:t>
            </a:r>
            <a:r>
              <a:rPr lang="en-US" sz="1600" dirty="0" err="1">
                <a:effectLst/>
                <a:latin typeface="Google Sans Text"/>
              </a:rPr>
              <a:t>tốt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nhất</a:t>
            </a:r>
            <a:r>
              <a:rPr lang="en-US" sz="1600" dirty="0">
                <a:effectLst/>
                <a:latin typeface="Google Sans Text"/>
              </a:rPr>
              <a:t>. </a:t>
            </a:r>
            <a:br>
              <a:rPr lang="en-US" sz="1600" dirty="0"/>
            </a:br>
            <a:endParaRPr lang="en-US" sz="1600" dirty="0"/>
          </a:p>
          <a:p>
            <a:pPr marL="0" marR="0">
              <a:buNone/>
            </a:pPr>
            <a:r>
              <a:rPr lang="en-US" sz="1600" dirty="0">
                <a:effectLst/>
                <a:latin typeface="Google Sans Text"/>
              </a:rPr>
              <a:t>• </a:t>
            </a:r>
            <a:r>
              <a:rPr lang="en-US" sz="1600" dirty="0" err="1">
                <a:effectLst/>
                <a:latin typeface="Google Sans Text"/>
              </a:rPr>
              <a:t>Đo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lường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mức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độ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phá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vỡ</a:t>
            </a:r>
            <a:r>
              <a:rPr lang="en-US" sz="1600" dirty="0">
                <a:effectLst/>
                <a:latin typeface="Google Sans Text"/>
              </a:rPr>
              <a:t> cam </a:t>
            </a:r>
            <a:r>
              <a:rPr lang="en-US" sz="1600" dirty="0" err="1">
                <a:effectLst/>
                <a:latin typeface="Google Sans Text"/>
              </a:rPr>
              <a:t>kết</a:t>
            </a:r>
            <a:r>
              <a:rPr lang="en-US" sz="1600" dirty="0">
                <a:effectLst/>
                <a:latin typeface="Google Sans Text"/>
              </a:rPr>
              <a:t> bao </a:t>
            </a:r>
            <a:r>
              <a:rPr lang="en-US" sz="1600" dirty="0" err="1">
                <a:effectLst/>
                <a:latin typeface="Google Sans Text"/>
              </a:rPr>
              <a:t>phủ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của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khoảng</a:t>
            </a:r>
            <a:r>
              <a:rPr lang="en-US" sz="1600" dirty="0">
                <a:effectLst/>
                <a:latin typeface="Google Sans Text"/>
              </a:rPr>
              <a:t> Conformal 90% </a:t>
            </a:r>
            <a:r>
              <a:rPr lang="en-US" sz="1600" dirty="0" err="1">
                <a:effectLst/>
                <a:latin typeface="Google Sans Text"/>
              </a:rPr>
              <a:t>dưới</a:t>
            </a:r>
            <a:r>
              <a:rPr lang="en-US" sz="1600" dirty="0">
                <a:effectLst/>
                <a:latin typeface="Google Sans Text"/>
              </a:rPr>
              <a:t> 3 </a:t>
            </a:r>
            <a:r>
              <a:rPr lang="en-US" sz="1600" dirty="0" err="1">
                <a:effectLst/>
                <a:latin typeface="Google Sans Text"/>
              </a:rPr>
              <a:t>giao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thức</a:t>
            </a:r>
            <a:r>
              <a:rPr lang="en-US" sz="1600" dirty="0">
                <a:effectLst/>
                <a:latin typeface="Google Sans Text"/>
              </a:rPr>
              <a:t> (</a:t>
            </a:r>
            <a:r>
              <a:rPr lang="en-US" sz="1600" dirty="0" err="1">
                <a:effectLst/>
                <a:latin typeface="Google Sans Text"/>
              </a:rPr>
              <a:t>Xáo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trộn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ngẫu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nhiên</a:t>
            </a:r>
            <a:r>
              <a:rPr lang="en-US" sz="1600" dirty="0">
                <a:effectLst/>
                <a:latin typeface="Google Sans Text"/>
              </a:rPr>
              <a:t>, </a:t>
            </a:r>
            <a:r>
              <a:rPr lang="en-US" sz="1600" dirty="0" err="1">
                <a:effectLst/>
                <a:latin typeface="Google Sans Text"/>
              </a:rPr>
              <a:t>Đổi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xe</a:t>
            </a:r>
            <a:r>
              <a:rPr lang="en-US" sz="1600" dirty="0">
                <a:effectLst/>
                <a:latin typeface="Google Sans Text"/>
              </a:rPr>
              <a:t>, </a:t>
            </a:r>
            <a:r>
              <a:rPr lang="en-US" sz="1600" dirty="0" err="1">
                <a:effectLst/>
                <a:latin typeface="Google Sans Text"/>
              </a:rPr>
              <a:t>Đổi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thời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kỳ</a:t>
            </a:r>
            <a:r>
              <a:rPr lang="en-US" sz="1600" dirty="0">
                <a:effectLst/>
                <a:latin typeface="Google Sans Text"/>
              </a:rPr>
              <a:t>) </a:t>
            </a:r>
            <a:r>
              <a:rPr lang="en-US" sz="1600" dirty="0" err="1">
                <a:effectLst/>
                <a:latin typeface="Google Sans Text"/>
              </a:rPr>
              <a:t>trên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nhiều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mô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hình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học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máy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khác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nhau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cùng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với</a:t>
            </a:r>
            <a:r>
              <a:rPr lang="en-US" sz="1600" dirty="0">
                <a:effectLst/>
                <a:latin typeface="Google Sans Text"/>
              </a:rPr>
              <a:t> BMS </a:t>
            </a:r>
            <a:r>
              <a:rPr lang="en-US" sz="1600" dirty="0" err="1">
                <a:effectLst/>
                <a:latin typeface="Google Sans Text"/>
              </a:rPr>
              <a:t>của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xe</a:t>
            </a:r>
            <a:r>
              <a:rPr lang="en-US" sz="1600" dirty="0">
                <a:effectLst/>
                <a:latin typeface="Google Sans Text"/>
              </a:rPr>
              <a:t>. </a:t>
            </a:r>
            <a:br>
              <a:rPr lang="en-US" sz="1600" dirty="0"/>
            </a:br>
            <a:endParaRPr lang="en-US" sz="1600" dirty="0"/>
          </a:p>
          <a:p>
            <a:pPr marL="0" marR="0">
              <a:buNone/>
            </a:pPr>
            <a:r>
              <a:rPr lang="en-US" sz="1600" dirty="0">
                <a:effectLst/>
                <a:latin typeface="Google Sans Text"/>
              </a:rPr>
              <a:t>• </a:t>
            </a:r>
            <a:r>
              <a:rPr lang="en-US" sz="1600" dirty="0" err="1">
                <a:effectLst/>
                <a:latin typeface="Google Sans Text"/>
              </a:rPr>
              <a:t>Thiết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lập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chiến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lược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tối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ưu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hóa</a:t>
            </a:r>
            <a:r>
              <a:rPr lang="en-US" sz="1600" dirty="0">
                <a:effectLst/>
                <a:latin typeface="Google Sans Text"/>
              </a:rPr>
              <a:t> chi </a:t>
            </a:r>
            <a:r>
              <a:rPr lang="en-US" sz="1600" dirty="0" err="1">
                <a:effectLst/>
                <a:latin typeface="Google Sans Text"/>
              </a:rPr>
              <a:t>phí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dán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nhãn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từ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miền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đích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khi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ngân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sách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bị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giới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hạn</a:t>
            </a:r>
            <a:r>
              <a:rPr lang="en-US" sz="1600" dirty="0">
                <a:effectLst/>
                <a:latin typeface="Google Sans Text"/>
              </a:rPr>
              <a:t>: so </a:t>
            </a:r>
            <a:r>
              <a:rPr lang="en-US" sz="1600" dirty="0" err="1">
                <a:effectLst/>
                <a:latin typeface="Google Sans Text"/>
              </a:rPr>
              <a:t>sánh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dirty="0" err="1">
                <a:effectLst/>
                <a:latin typeface="Google Sans Text"/>
              </a:rPr>
              <a:t>giữa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i="1" dirty="0">
                <a:effectLst/>
                <a:latin typeface="Google Sans Text"/>
              </a:rPr>
              <a:t>Tái </a:t>
            </a:r>
            <a:r>
              <a:rPr lang="en-US" sz="1600" i="1" dirty="0" err="1">
                <a:effectLst/>
                <a:latin typeface="Google Sans Text"/>
              </a:rPr>
              <a:t>hiệu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chuẩn</a:t>
            </a:r>
            <a:r>
              <a:rPr lang="en-US" sz="1600" i="1" dirty="0">
                <a:effectLst/>
                <a:latin typeface="Google Sans Text"/>
              </a:rPr>
              <a:t> (Recalibration) vs. Tái </a:t>
            </a:r>
            <a:r>
              <a:rPr lang="en-US" sz="1600" i="1" dirty="0" err="1">
                <a:effectLst/>
                <a:latin typeface="Google Sans Text"/>
              </a:rPr>
              <a:t>huấn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luyện</a:t>
            </a:r>
            <a:r>
              <a:rPr lang="en-US" sz="1600" i="1" dirty="0">
                <a:effectLst/>
                <a:latin typeface="Google Sans Text"/>
              </a:rPr>
              <a:t> (Retraining)</a:t>
            </a:r>
            <a:r>
              <a:rPr lang="en-US" sz="1600" dirty="0">
                <a:effectLst/>
                <a:latin typeface="Google Sans Text"/>
              </a:rPr>
              <a:t>, </a:t>
            </a:r>
            <a:r>
              <a:rPr lang="en-US" sz="1600" i="1" dirty="0" err="1">
                <a:effectLst/>
                <a:latin typeface="Google Sans Text"/>
              </a:rPr>
              <a:t>Phân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bổ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thích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nghi</a:t>
            </a:r>
            <a:r>
              <a:rPr lang="en-US" sz="1600" i="1" dirty="0">
                <a:effectLst/>
                <a:latin typeface="Google Sans Text"/>
              </a:rPr>
              <a:t> (Adaptive) vs. </a:t>
            </a:r>
            <a:r>
              <a:rPr lang="en-US" sz="1600" i="1" dirty="0" err="1">
                <a:effectLst/>
                <a:latin typeface="Google Sans Text"/>
              </a:rPr>
              <a:t>Phân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bổ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đều</a:t>
            </a:r>
            <a:r>
              <a:rPr lang="en-US" sz="1600" i="1" dirty="0">
                <a:effectLst/>
                <a:latin typeface="Google Sans Text"/>
              </a:rPr>
              <a:t> (Uniform)</a:t>
            </a:r>
            <a:r>
              <a:rPr lang="en-US" sz="1600" dirty="0">
                <a:effectLst/>
                <a:latin typeface="Google Sans Text"/>
              </a:rPr>
              <a:t>, </a:t>
            </a:r>
            <a:r>
              <a:rPr lang="en-US" sz="1600" dirty="0" err="1">
                <a:effectLst/>
                <a:latin typeface="Google Sans Text"/>
              </a:rPr>
              <a:t>và</a:t>
            </a:r>
            <a:r>
              <a:rPr lang="en-US" sz="1600" dirty="0">
                <a:effectLst/>
                <a:latin typeface="Google Sans Text"/>
              </a:rPr>
              <a:t> </a:t>
            </a:r>
            <a:r>
              <a:rPr lang="en-US" sz="1600" i="1" dirty="0">
                <a:effectLst/>
                <a:latin typeface="Google Sans Text"/>
              </a:rPr>
              <a:t>Hiệu </a:t>
            </a:r>
            <a:r>
              <a:rPr lang="en-US" sz="1600" i="1" dirty="0" err="1">
                <a:effectLst/>
                <a:latin typeface="Google Sans Text"/>
              </a:rPr>
              <a:t>chuẩn</a:t>
            </a:r>
            <a:r>
              <a:rPr lang="en-US" sz="1600" i="1" dirty="0">
                <a:effectLst/>
                <a:latin typeface="Google Sans Text"/>
              </a:rPr>
              <a:t> Mondrian (</a:t>
            </a:r>
            <a:r>
              <a:rPr lang="en-US" sz="1600" i="1" dirty="0" err="1">
                <a:effectLst/>
                <a:latin typeface="Google Sans Text"/>
              </a:rPr>
              <a:t>theo</a:t>
            </a:r>
            <a:r>
              <a:rPr lang="en-US" sz="1600" i="1" dirty="0">
                <a:effectLst/>
                <a:latin typeface="Google Sans Text"/>
              </a:rPr>
              <a:t> </a:t>
            </a:r>
            <a:r>
              <a:rPr lang="en-US" sz="1600" i="1" dirty="0" err="1">
                <a:effectLst/>
                <a:latin typeface="Google Sans Text"/>
              </a:rPr>
              <a:t>nhóm</a:t>
            </a:r>
            <a:r>
              <a:rPr lang="en-US" sz="1600" i="1" dirty="0">
                <a:effectLst/>
                <a:latin typeface="Google Sans Text"/>
              </a:rPr>
              <a:t> con)</a:t>
            </a:r>
            <a:r>
              <a:rPr lang="en-US" sz="1600" dirty="0">
                <a:effectLst/>
                <a:latin typeface="Google Sans Text"/>
              </a:rPr>
              <a:t>. </a:t>
            </a:r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dirty="0"/>
              <a:t>• </a:t>
            </a:r>
            <a:r>
              <a:rPr lang="en-US" sz="1600" b="1" dirty="0"/>
              <a:t>Phạm vi </a:t>
            </a:r>
            <a:r>
              <a:rPr lang="en-US" sz="1600" b="1" dirty="0" err="1"/>
              <a:t>dữ</a:t>
            </a:r>
            <a:r>
              <a:rPr lang="en-US" sz="1600" b="1" dirty="0"/>
              <a:t> </a:t>
            </a:r>
            <a:r>
              <a:rPr lang="en-US" sz="1600" b="1" dirty="0" err="1"/>
              <a:t>liệu</a:t>
            </a:r>
            <a:r>
              <a:rPr lang="en-US" sz="1600" b="1" dirty="0"/>
              <a:t>:</a:t>
            </a:r>
            <a:r>
              <a:rPr lang="en-US" sz="1600" dirty="0"/>
              <a:t> 16,1 </a:t>
            </a:r>
            <a:r>
              <a:rPr lang="en-US" sz="1600" dirty="0" err="1"/>
              <a:t>triệu</a:t>
            </a:r>
            <a:r>
              <a:rPr lang="en-US" sz="1600" dirty="0"/>
              <a:t> </a:t>
            </a:r>
            <a:r>
              <a:rPr lang="en-US" sz="1600" dirty="0" err="1"/>
              <a:t>bản</a:t>
            </a:r>
            <a:r>
              <a:rPr lang="en-US" sz="1600" dirty="0"/>
              <a:t> </a:t>
            </a:r>
            <a:r>
              <a:rPr lang="en-US" sz="1600" dirty="0" err="1"/>
              <a:t>ghi</a:t>
            </a:r>
            <a:r>
              <a:rPr lang="en-US" sz="1600" dirty="0"/>
              <a:t> BMS </a:t>
            </a:r>
            <a:r>
              <a:rPr lang="en-US" sz="1600" dirty="0" err="1"/>
              <a:t>thô</a:t>
            </a:r>
            <a:r>
              <a:rPr lang="en-US" sz="1600" dirty="0"/>
              <a:t>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b="1" dirty="0"/>
              <a:t>20 </a:t>
            </a:r>
            <a:r>
              <a:rPr lang="en-US" sz="1600" b="1" dirty="0" err="1"/>
              <a:t>xe</a:t>
            </a:r>
            <a:r>
              <a:rPr lang="en-US" sz="1600" b="1" dirty="0"/>
              <a:t> </a:t>
            </a:r>
            <a:r>
              <a:rPr lang="en-US" sz="1600" b="1" dirty="0" err="1"/>
              <a:t>điện</a:t>
            </a:r>
            <a:r>
              <a:rPr lang="en-US" sz="1600" b="1" dirty="0"/>
              <a:t> </a:t>
            </a:r>
            <a:r>
              <a:rPr lang="en-US" sz="1600" b="1" dirty="0" err="1"/>
              <a:t>thương</a:t>
            </a:r>
            <a:r>
              <a:rPr lang="en-US" sz="1600" b="1" dirty="0"/>
              <a:t> </a:t>
            </a:r>
            <a:r>
              <a:rPr lang="en-US" sz="1600" b="1" dirty="0" err="1"/>
              <a:t>mại</a:t>
            </a:r>
            <a:r>
              <a:rPr lang="en-US" sz="1600" b="1" dirty="0"/>
              <a:t> </a:t>
            </a:r>
            <a:r>
              <a:rPr lang="en-US" sz="1600" b="1" dirty="0" err="1"/>
              <a:t>chạy</a:t>
            </a:r>
            <a:r>
              <a:rPr lang="en-US" sz="1600" b="1" dirty="0"/>
              <a:t> </a:t>
            </a:r>
            <a:r>
              <a:rPr lang="en-US" sz="1600" b="1" dirty="0" err="1"/>
              <a:t>thực</a:t>
            </a:r>
            <a:r>
              <a:rPr lang="en-US" sz="1600" b="1" dirty="0"/>
              <a:t> </a:t>
            </a:r>
            <a:r>
              <a:rPr lang="en-US" sz="1600" b="1" dirty="0" err="1"/>
              <a:t>tế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28 </a:t>
            </a:r>
            <a:r>
              <a:rPr lang="en-US" sz="1600" dirty="0" err="1"/>
              <a:t>tháng</a:t>
            </a:r>
            <a:r>
              <a:rPr lang="en-US" sz="1600" dirty="0"/>
              <a:t> </a:t>
            </a:r>
            <a:r>
              <a:rPr lang="en-US" sz="1600" dirty="0" err="1"/>
              <a:t>liên</a:t>
            </a:r>
            <a:r>
              <a:rPr lang="en-US" sz="1600" dirty="0"/>
              <a:t> </a:t>
            </a:r>
            <a:r>
              <a:rPr lang="en-US" sz="1600" dirty="0" err="1"/>
              <a:t>tục</a:t>
            </a:r>
            <a:r>
              <a:rPr lang="en-US" sz="1600" dirty="0"/>
              <a:t> (2019 – 2021),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trích</a:t>
            </a:r>
            <a:r>
              <a:rPr lang="en-US" sz="1600" dirty="0"/>
              <a:t> </a:t>
            </a:r>
            <a:r>
              <a:rPr lang="en-US" sz="1600" dirty="0" err="1"/>
              <a:t>xuất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31.253 </a:t>
            </a:r>
            <a:r>
              <a:rPr lang="en-US" sz="1600" dirty="0" err="1"/>
              <a:t>phiên</a:t>
            </a:r>
            <a:r>
              <a:rPr lang="en-US" sz="1600" dirty="0"/>
              <a:t> </a:t>
            </a:r>
            <a:r>
              <a:rPr lang="en-US" sz="1600" dirty="0" err="1"/>
              <a:t>sạc</a:t>
            </a:r>
            <a:r>
              <a:rPr lang="en-US" sz="1600" dirty="0"/>
              <a:t> </a:t>
            </a:r>
            <a:r>
              <a:rPr lang="en-US" sz="1600" dirty="0" err="1"/>
              <a:t>hoàn</a:t>
            </a:r>
            <a:r>
              <a:rPr lang="en-US" sz="1600" dirty="0"/>
              <a:t> </a:t>
            </a:r>
            <a:r>
              <a:rPr lang="en-US" sz="1600" dirty="0" err="1"/>
              <a:t>chỉnh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nhãn</a:t>
            </a:r>
            <a:r>
              <a:rPr lang="en-US" sz="1600" dirty="0"/>
              <a:t>.</a:t>
            </a:r>
          </a:p>
          <a:p>
            <a:pPr>
              <a:spcAft>
                <a:spcPts val="200"/>
              </a:spcAft>
            </a:pPr>
            <a:endParaRPr lang="en-US" sz="1600" dirty="0"/>
          </a:p>
          <a:p>
            <a:pPr>
              <a:spcAft>
                <a:spcPts val="200"/>
              </a:spcAft>
            </a:pPr>
            <a:endParaRPr lang="en-US" sz="17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749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D8E70-2AEC-ABCB-90D6-025D644B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>
            <a:extLst>
              <a:ext uri="{FF2B5EF4-FFF2-40B4-BE49-F238E27FC236}">
                <a16:creationId xmlns:a16="http://schemas.microsoft.com/office/drawing/2014/main" id="{48396B4F-8BA3-0DA9-A95E-FB03E8F396CD}"/>
              </a:ext>
            </a:extLst>
          </p:cNvPr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Data Understanding</a:t>
            </a:r>
            <a:endParaRPr lang="vi-VN" sz="2800" dirty="0"/>
          </a:p>
        </p:txBody>
      </p:sp>
      <p:sp>
        <p:nvSpPr>
          <p:cNvPr id="3" name="Div">
            <a:extLst>
              <a:ext uri="{FF2B5EF4-FFF2-40B4-BE49-F238E27FC236}">
                <a16:creationId xmlns:a16="http://schemas.microsoft.com/office/drawing/2014/main" id="{79430785-2ADC-255D-CB07-0EE09CF97B53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99F00BCF-8C7A-A4C5-22B0-74EA9BE30F8C}"/>
              </a:ext>
            </a:extLst>
          </p:cNvPr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,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b="1" dirty="0" err="1"/>
              <a:t>Nguồn</a:t>
            </a:r>
            <a:r>
              <a:rPr lang="en-US" dirty="0"/>
              <a:t>: Deng Z., Xu L., Liu H., Hu X., Duan Z., Xu Y. Prognostics of battery capacity based on charging data and data-driven methods for on-road vehicles.</a:t>
            </a:r>
          </a:p>
          <a:p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16.100.728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. 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,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31.253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sạc</a:t>
            </a:r>
            <a:r>
              <a:rPr lang="en-US" dirty="0"/>
              <a:t>, </a:t>
            </a:r>
            <a:r>
              <a:rPr lang="en-US" dirty="0" err="1"/>
              <a:t>tổng</a:t>
            </a:r>
            <a:r>
              <a:rPr lang="en-US" dirty="0"/>
              <a:t> 167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</a:p>
          <a:p>
            <a:r>
              <a:rPr lang="en-US" dirty="0"/>
              <a:t>Các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SOC(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RMSE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cong</a:t>
            </a:r>
            <a:r>
              <a:rPr lang="en-US" dirty="0"/>
              <a:t> IC(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dirty="0"/>
              <a:t> </a:t>
            </a:r>
          </a:p>
          <a:p>
            <a:pPr marL="0" indent="0" algn="l">
              <a:spcAft>
                <a:spcPts val="200"/>
              </a:spcAft>
              <a:buNone/>
            </a:pPr>
            <a:endParaRPr lang="en-US" dirty="0"/>
          </a:p>
          <a:p>
            <a:pPr marL="0" indent="0" algn="l">
              <a:spcAft>
                <a:spcPts val="200"/>
              </a:spcAft>
              <a:buNone/>
            </a:pPr>
            <a:endParaRPr lang="en-US" sz="17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93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043A-5A17-2434-B967-5186A61F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>
            <a:extLst>
              <a:ext uri="{FF2B5EF4-FFF2-40B4-BE49-F238E27FC236}">
                <a16:creationId xmlns:a16="http://schemas.microsoft.com/office/drawing/2014/main" id="{BB26ED6D-4813-E08A-1799-0D7CB51A2207}"/>
              </a:ext>
            </a:extLst>
          </p:cNvPr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Data Understanding</a:t>
            </a:r>
            <a:endParaRPr lang="vi-VN" sz="2800" dirty="0"/>
          </a:p>
        </p:txBody>
      </p:sp>
      <p:sp>
        <p:nvSpPr>
          <p:cNvPr id="3" name="Div">
            <a:extLst>
              <a:ext uri="{FF2B5EF4-FFF2-40B4-BE49-F238E27FC236}">
                <a16:creationId xmlns:a16="http://schemas.microsoft.com/office/drawing/2014/main" id="{FD24A0B7-8BCD-EFB9-F3B3-CB37FEB6B6DD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37445FCE-313A-8C76-615A-3823C21F7B6B}"/>
              </a:ext>
            </a:extLst>
          </p:cNvPr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 err="1"/>
              <a:t>Bản</a:t>
            </a:r>
            <a:r>
              <a:rPr lang="en-US" b="1" dirty="0"/>
              <a:t> </a:t>
            </a:r>
            <a:r>
              <a:rPr lang="en-US" b="1" dirty="0" err="1"/>
              <a:t>chất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gốc</a:t>
            </a:r>
            <a:r>
              <a:rPr lang="en-US" b="1" dirty="0"/>
              <a:t> (Raw BMS Logs):</a:t>
            </a:r>
            <a:endParaRPr lang="en-US" dirty="0"/>
          </a:p>
          <a:p>
            <a:pPr lvl="0"/>
            <a:r>
              <a:rPr lang="en-US" dirty="0"/>
              <a:t>Thu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b="1" dirty="0"/>
              <a:t>20 </a:t>
            </a:r>
            <a:r>
              <a:rPr lang="en-US" b="1" dirty="0" err="1"/>
              <a:t>xe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thương</a:t>
            </a:r>
            <a:r>
              <a:rPr lang="en-US" b="1" dirty="0"/>
              <a:t> </a:t>
            </a:r>
            <a:r>
              <a:rPr lang="en-US" b="1" dirty="0" err="1"/>
              <a:t>mại</a:t>
            </a:r>
            <a:r>
              <a:rPr lang="en-US" b="1" dirty="0"/>
              <a:t> </a:t>
            </a:r>
            <a:r>
              <a:rPr lang="en-US" b="1" dirty="0" err="1"/>
              <a:t>chạy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b="1" dirty="0"/>
              <a:t> </a:t>
            </a:r>
            <a:r>
              <a:rPr lang="en-US" b="1" dirty="0" err="1"/>
              <a:t>ngoài</a:t>
            </a:r>
            <a:r>
              <a:rPr lang="en-US" b="1" dirty="0"/>
              <a:t> </a:t>
            </a:r>
            <a:r>
              <a:rPr lang="en-US" b="1" dirty="0" err="1"/>
              <a:t>đường</a:t>
            </a:r>
            <a:r>
              <a:rPr lang="en-US" dirty="0"/>
              <a:t> (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16,1 </a:t>
            </a:r>
            <a:r>
              <a:rPr lang="en-US" dirty="0" err="1"/>
              <a:t>triệu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thô</a:t>
            </a:r>
            <a:r>
              <a:rPr lang="en-US" dirty="0"/>
              <a:t>,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31.253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sạc</a:t>
            </a:r>
            <a:r>
              <a:rPr lang="en-US" dirty="0"/>
              <a:t>). </a:t>
            </a:r>
          </a:p>
          <a:p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b="1" dirty="0"/>
              <a:t>10 </a:t>
            </a:r>
            <a:r>
              <a:rPr lang="en-US" b="1" dirty="0" err="1"/>
              <a:t>trường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dirty="0"/>
              <a:t>: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(</a:t>
            </a:r>
            <a:r>
              <a:rPr lang="en-US" dirty="0" err="1"/>
              <a:t>record_time</a:t>
            </a:r>
            <a:r>
              <a:rPr lang="en-US" dirty="0"/>
              <a:t>), soc,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pack,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sạc</a:t>
            </a:r>
            <a:r>
              <a:rPr lang="en-US" dirty="0"/>
              <a:t>,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cell (max/min),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(max/min),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(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BMS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). </a:t>
            </a:r>
          </a:p>
          <a:p>
            <a:pPr lvl="0"/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sạc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/>
              <a:t>chu </a:t>
            </a:r>
            <a:r>
              <a:rPr lang="en-US" b="1" dirty="0" err="1"/>
              <a:t>kỳ</a:t>
            </a:r>
            <a:r>
              <a:rPr lang="en-US" b="1" dirty="0"/>
              <a:t> </a:t>
            </a:r>
            <a:r>
              <a:rPr lang="en-US" b="1" dirty="0" err="1"/>
              <a:t>lấy</a:t>
            </a:r>
            <a:r>
              <a:rPr lang="en-US" b="1" dirty="0"/>
              <a:t> </a:t>
            </a:r>
            <a:r>
              <a:rPr lang="en-US" b="1" dirty="0" err="1"/>
              <a:t>mẫu</a:t>
            </a:r>
            <a:r>
              <a:rPr lang="en-US" b="1" dirty="0"/>
              <a:t> 10 </a:t>
            </a:r>
            <a:r>
              <a:rPr lang="en-US" b="1" dirty="0" err="1"/>
              <a:t>giây</a:t>
            </a:r>
            <a:r>
              <a:rPr lang="en-US" b="1" dirty="0"/>
              <a:t>/</a:t>
            </a:r>
            <a:r>
              <a:rPr lang="en-US" b="1" dirty="0" err="1"/>
              <a:t>lần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1679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312C-CCC7-4A24-EC6D-FDD51356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>
            <a:extLst>
              <a:ext uri="{FF2B5EF4-FFF2-40B4-BE49-F238E27FC236}">
                <a16:creationId xmlns:a16="http://schemas.microsoft.com/office/drawing/2014/main" id="{AA4B434B-5121-01C8-9377-1D317FEFE598}"/>
              </a:ext>
            </a:extLst>
          </p:cNvPr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</a:t>
            </a:r>
            <a:r>
              <a:rPr lang="vi-VN" sz="28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vi-VN" sz="2800" dirty="0"/>
          </a:p>
        </p:txBody>
      </p:sp>
      <p:sp>
        <p:nvSpPr>
          <p:cNvPr id="3" name="Div">
            <a:extLst>
              <a:ext uri="{FF2B5EF4-FFF2-40B4-BE49-F238E27FC236}">
                <a16:creationId xmlns:a16="http://schemas.microsoft.com/office/drawing/2014/main" id="{8B7A0651-515F-33F2-9EBB-0434FF42E942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Body">
                <a:extLst>
                  <a:ext uri="{FF2B5EF4-FFF2-40B4-BE49-F238E27FC236}">
                    <a16:creationId xmlns:a16="http://schemas.microsoft.com/office/drawing/2014/main" id="{8ED67752-AAE8-D658-E498-0CB53B4D639C}"/>
                  </a:ext>
                </a:extLst>
              </p:cNvPr>
              <p:cNvSpPr/>
              <p:nvPr/>
            </p:nvSpPr>
            <p:spPr>
              <a:xfrm>
                <a:off x="457200" y="1051560"/>
                <a:ext cx="8229600" cy="39319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b="1" dirty="0" err="1"/>
                  <a:t>Tạo</a:t>
                </a:r>
                <a:r>
                  <a:rPr lang="en-US" b="1" dirty="0"/>
                  <a:t> </a:t>
                </a:r>
                <a:r>
                  <a:rPr lang="en-US" b="1" dirty="0" err="1"/>
                  <a:t>nhãn</a:t>
                </a:r>
                <a:r>
                  <a:rPr lang="en-US" b="1" dirty="0"/>
                  <a:t> dung </a:t>
                </a:r>
                <a:r>
                  <a:rPr lang="en-US" b="1" dirty="0" err="1"/>
                  <a:t>lượng</a:t>
                </a:r>
                <a:r>
                  <a:rPr lang="en-US" b="1" dirty="0"/>
                  <a:t> (Ground Truth Labeling):</a:t>
                </a:r>
                <a:endParaRPr lang="en-US" dirty="0"/>
              </a:p>
              <a:p>
                <a:pPr lvl="0"/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nhãn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𝑄</m:t>
                    </m:r>
                  </m:oMath>
                </a14:m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tích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dòng</a:t>
                </a:r>
                <a:r>
                  <a:rPr lang="en-US" dirty="0"/>
                  <a:t> </a:t>
                </a:r>
                <a:r>
                  <a:rPr lang="en-US" dirty="0" err="1"/>
                  <a:t>điện</a:t>
                </a:r>
                <a:r>
                  <a:rPr lang="en-US" dirty="0"/>
                  <a:t> (Ampe-</a:t>
                </a:r>
                <a:r>
                  <a:rPr lang="en-US" dirty="0" err="1"/>
                  <a:t>giờ</a:t>
                </a:r>
                <a:r>
                  <a:rPr lang="en-US" dirty="0"/>
                  <a:t>) chia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Δ</m:t>
                    </m:r>
                    <m:r>
                      <m:rPr>
                        <m:nor/>
                      </m:rPr>
                      <a:rPr lang="en-US"/>
                      <m:t>SOC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dùng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liệu</a:t>
                </a:r>
                <a:r>
                  <a:rPr lang="en-US" dirty="0"/>
                  <a:t> BMS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tránh</a:t>
                </a:r>
                <a:r>
                  <a:rPr lang="en-US" dirty="0"/>
                  <a:t> </a:t>
                </a:r>
                <a:r>
                  <a:rPr lang="en-US" dirty="0" err="1"/>
                  <a:t>sai</a:t>
                </a:r>
                <a:r>
                  <a:rPr lang="en-US" dirty="0"/>
                  <a:t> </a:t>
                </a:r>
                <a:r>
                  <a:rPr lang="en-US" dirty="0" err="1"/>
                  <a:t>lệch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so </a:t>
                </a:r>
                <a:r>
                  <a:rPr lang="en-US" dirty="0" err="1"/>
                  <a:t>sánh</a:t>
                </a:r>
                <a:r>
                  <a:rPr lang="en-US" dirty="0"/>
                  <a:t> </a:t>
                </a:r>
                <a:r>
                  <a:rPr lang="en-US" dirty="0" err="1"/>
                  <a:t>vòng</a:t>
                </a:r>
                <a:r>
                  <a:rPr lang="en-US" dirty="0"/>
                  <a:t> </a:t>
                </a:r>
                <a:r>
                  <a:rPr lang="en-US" dirty="0" err="1"/>
                  <a:t>tròn</a:t>
                </a:r>
                <a:endParaRPr lang="en-US" dirty="0"/>
              </a:p>
            </p:txBody>
          </p:sp>
        </mc:Choice>
        <mc:Fallback>
          <p:sp>
            <p:nvSpPr>
              <p:cNvPr id="6" name="Body">
                <a:extLst>
                  <a:ext uri="{FF2B5EF4-FFF2-40B4-BE49-F238E27FC236}">
                    <a16:creationId xmlns:a16="http://schemas.microsoft.com/office/drawing/2014/main" id="{8ED67752-AAE8-D658-E498-0CB53B4D63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51560"/>
                <a:ext cx="8229600" cy="3931920"/>
              </a:xfrm>
              <a:prstGeom prst="rect">
                <a:avLst/>
              </a:prstGeom>
              <a:blipFill>
                <a:blip r:embed="rId3"/>
                <a:stretch>
                  <a:fillRect l="-593" t="-93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Hình ảnh 4">
            <a:extLst>
              <a:ext uri="{FF2B5EF4-FFF2-40B4-BE49-F238E27FC236}">
                <a16:creationId xmlns:a16="http://schemas.microsoft.com/office/drawing/2014/main" id="{692B0D31-A3D1-1180-A13A-D1EBFD0F6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569" y="1926081"/>
            <a:ext cx="4305901" cy="2734057"/>
          </a:xfrm>
          <a:prstGeom prst="rect">
            <a:avLst/>
          </a:prstGeom>
        </p:spPr>
      </p:pic>
      <p:sp>
        <p:nvSpPr>
          <p:cNvPr id="11" name="Body">
            <a:extLst>
              <a:ext uri="{FF2B5EF4-FFF2-40B4-BE49-F238E27FC236}">
                <a16:creationId xmlns:a16="http://schemas.microsoft.com/office/drawing/2014/main" id="{261AA8F7-237E-9A37-2A31-25183F2B80C0}"/>
              </a:ext>
            </a:extLst>
          </p:cNvPr>
          <p:cNvSpPr/>
          <p:nvPr/>
        </p:nvSpPr>
        <p:spPr>
          <a:xfrm>
            <a:off x="1880569" y="4692396"/>
            <a:ext cx="4622800" cy="2776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xe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07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78ACF-38FA-0BDA-3927-18C8A4A8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>
            <a:extLst>
              <a:ext uri="{FF2B5EF4-FFF2-40B4-BE49-F238E27FC236}">
                <a16:creationId xmlns:a16="http://schemas.microsoft.com/office/drawing/2014/main" id="{A3AFD93A-DACF-7DB8-1819-62D3C53D5ADE}"/>
              </a:ext>
            </a:extLst>
          </p:cNvPr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</a:t>
            </a:r>
            <a:r>
              <a:rPr lang="vi-VN" sz="28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vi-VN" sz="2800" dirty="0"/>
          </a:p>
        </p:txBody>
      </p:sp>
      <p:sp>
        <p:nvSpPr>
          <p:cNvPr id="3" name="Div">
            <a:extLst>
              <a:ext uri="{FF2B5EF4-FFF2-40B4-BE49-F238E27FC236}">
                <a16:creationId xmlns:a16="http://schemas.microsoft.com/office/drawing/2014/main" id="{BE25A79E-3179-5D44-1B37-98E4C121EC8B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Body">
                <a:extLst>
                  <a:ext uri="{FF2B5EF4-FFF2-40B4-BE49-F238E27FC236}">
                    <a16:creationId xmlns:a16="http://schemas.microsoft.com/office/drawing/2014/main" id="{72B48DC5-7E0A-A0DD-5401-E1964182BCA0}"/>
                  </a:ext>
                </a:extLst>
              </p:cNvPr>
              <p:cNvSpPr/>
              <p:nvPr/>
            </p:nvSpPr>
            <p:spPr>
              <a:xfrm>
                <a:off x="457200" y="1051560"/>
                <a:ext cx="5516880" cy="39319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b="1" dirty="0"/>
                  <a:t>Các </a:t>
                </a:r>
                <a:r>
                  <a:rPr lang="en-US" b="1" dirty="0" err="1"/>
                  <a:t>tiêu</a:t>
                </a:r>
                <a:r>
                  <a:rPr lang="en-US" b="1" dirty="0"/>
                  <a:t> </a:t>
                </a:r>
                <a:r>
                  <a:rPr lang="en-US" b="1" dirty="0" err="1"/>
                  <a:t>chí</a:t>
                </a:r>
                <a:r>
                  <a:rPr lang="en-US" b="1" dirty="0"/>
                  <a:t> </a:t>
                </a:r>
                <a:r>
                  <a:rPr lang="en-US" b="1" dirty="0" err="1"/>
                  <a:t>cắt</a:t>
                </a:r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:r>
                  <a:rPr lang="en-US" b="1" dirty="0" err="1"/>
                  <a:t>lọc</a:t>
                </a:r>
                <a:r>
                  <a:rPr lang="en-US" b="1" dirty="0"/>
                  <a:t> </a:t>
                </a:r>
                <a:r>
                  <a:rPr lang="en-US" b="1" dirty="0" err="1"/>
                  <a:t>phiên</a:t>
                </a:r>
                <a:r>
                  <a:rPr lang="en-US" b="1" dirty="0"/>
                  <a:t> </a:t>
                </a:r>
                <a:r>
                  <a:rPr lang="en-US" b="1" dirty="0" err="1"/>
                  <a:t>sạc</a:t>
                </a:r>
                <a:r>
                  <a:rPr lang="en-US" b="1" dirty="0"/>
                  <a:t>:</a:t>
                </a:r>
                <a:endParaRPr lang="en-US" dirty="0"/>
              </a:p>
              <a:p>
                <a:pPr lvl="0"/>
                <a:r>
                  <a:rPr lang="en-US" b="1" dirty="0" err="1"/>
                  <a:t>Cắt</a:t>
                </a:r>
                <a:r>
                  <a:rPr lang="en-US" b="1" dirty="0"/>
                  <a:t> </a:t>
                </a:r>
                <a:r>
                  <a:rPr lang="en-US" b="1" dirty="0" err="1"/>
                  <a:t>phiên</a:t>
                </a:r>
                <a:r>
                  <a:rPr lang="en-US" b="1" dirty="0"/>
                  <a:t>:</a:t>
                </a:r>
                <a:r>
                  <a:rPr lang="en-US" dirty="0"/>
                  <a:t> </a:t>
                </a:r>
                <a:r>
                  <a:rPr lang="en-US" dirty="0" err="1"/>
                  <a:t>Mở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phiên</a:t>
                </a:r>
                <a:r>
                  <a:rPr lang="en-US" dirty="0"/>
                  <a:t> </a:t>
                </a:r>
                <a:r>
                  <a:rPr lang="en-US" dirty="0" err="1"/>
                  <a:t>sạc</a:t>
                </a:r>
                <a:r>
                  <a:rPr lang="en-US" dirty="0"/>
                  <a:t> </a:t>
                </a:r>
                <a:r>
                  <a:rPr lang="en-US" dirty="0" err="1"/>
                  <a:t>mới</a:t>
                </a:r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2 </a:t>
                </a:r>
                <a:r>
                  <a:rPr lang="en-US" dirty="0" err="1"/>
                  <a:t>dòng</a:t>
                </a:r>
                <a:r>
                  <a:rPr lang="en-US" dirty="0"/>
                  <a:t> </a:t>
                </a:r>
                <a:r>
                  <a:rPr lang="en-US" dirty="0" err="1"/>
                  <a:t>liên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10 </a:t>
                </a:r>
                <a:r>
                  <a:rPr lang="en-US" dirty="0" err="1"/>
                  <a:t>giây</a:t>
                </a:r>
                <a:r>
                  <a:rPr lang="en-US" dirty="0"/>
                  <a:t>. (</a:t>
                </a:r>
                <a:r>
                  <a:rPr lang="en-US" dirty="0" err="1"/>
                  <a:t>gom</a:t>
                </a:r>
                <a:r>
                  <a:rPr lang="en-US" dirty="0"/>
                  <a:t> </a:t>
                </a:r>
                <a:r>
                  <a:rPr lang="en-US" dirty="0" err="1"/>
                  <a:t>tất</a:t>
                </a: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dòng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10s </a:t>
                </a:r>
                <a:r>
                  <a:rPr lang="en-US" dirty="0" err="1"/>
                  <a:t>trở</a:t>
                </a:r>
                <a:r>
                  <a:rPr lang="en-US" dirty="0"/>
                  <a:t> </a:t>
                </a:r>
                <a:r>
                  <a:rPr lang="en-US" dirty="0" err="1"/>
                  <a:t>xuống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1 </a:t>
                </a:r>
                <a:r>
                  <a:rPr lang="en-US" dirty="0" err="1"/>
                  <a:t>phiên</a:t>
                </a:r>
                <a:r>
                  <a:rPr lang="en-US" dirty="0"/>
                  <a:t>)</a:t>
                </a:r>
              </a:p>
              <a:p>
                <a:pPr lvl="0"/>
                <a:r>
                  <a:rPr lang="en-US" b="1" dirty="0" err="1"/>
                  <a:t>Lọc</a:t>
                </a:r>
                <a:r>
                  <a:rPr lang="en-US" b="1" dirty="0"/>
                  <a:t> </a:t>
                </a:r>
                <a:r>
                  <a:rPr lang="en-US" b="1" dirty="0" err="1"/>
                  <a:t>thời</a:t>
                </a:r>
                <a:r>
                  <a:rPr lang="en-US" b="1" dirty="0"/>
                  <a:t> </a:t>
                </a:r>
                <a:r>
                  <a:rPr lang="en-US" b="1" dirty="0" err="1"/>
                  <a:t>lượng</a:t>
                </a:r>
                <a:r>
                  <a:rPr lang="en-US" b="1" dirty="0"/>
                  <a:t>: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bỏ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phiên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b="1" dirty="0" err="1"/>
                  <a:t>dưới</a:t>
                </a:r>
                <a:r>
                  <a:rPr lang="en-US" b="1" dirty="0"/>
                  <a:t> 30 </a:t>
                </a:r>
                <a:r>
                  <a:rPr lang="en-US" b="1" dirty="0" err="1"/>
                  <a:t>bản</a:t>
                </a:r>
                <a:r>
                  <a:rPr lang="en-US" b="1" dirty="0"/>
                  <a:t> </a:t>
                </a:r>
                <a:r>
                  <a:rPr lang="en-US" b="1" dirty="0" err="1"/>
                  <a:t>ghi</a:t>
                </a:r>
                <a:r>
                  <a:rPr lang="en-US" dirty="0"/>
                  <a:t> (</a:t>
                </a:r>
                <a:r>
                  <a:rPr lang="en-US" dirty="0" err="1"/>
                  <a:t>tương</a:t>
                </a:r>
                <a:r>
                  <a:rPr lang="en-US" dirty="0"/>
                  <a:t> </a:t>
                </a:r>
                <a:r>
                  <a:rPr lang="en-US" dirty="0" err="1"/>
                  <a:t>đương</a:t>
                </a:r>
                <a:r>
                  <a:rPr lang="en-US" dirty="0"/>
                  <a:t> </a:t>
                </a:r>
                <a:r>
                  <a:rPr lang="en-US" dirty="0" err="1"/>
                  <a:t>dưới</a:t>
                </a:r>
                <a:r>
                  <a:rPr lang="en-US" dirty="0"/>
                  <a:t> 5 </a:t>
                </a:r>
                <a:r>
                  <a:rPr lang="en-US" dirty="0" err="1"/>
                  <a:t>phút</a:t>
                </a:r>
                <a:r>
                  <a:rPr lang="en-US" dirty="0"/>
                  <a:t> </a:t>
                </a:r>
                <a:r>
                  <a:rPr lang="en-US" dirty="0" err="1"/>
                  <a:t>sạc</a:t>
                </a:r>
                <a:r>
                  <a:rPr lang="en-US" dirty="0"/>
                  <a:t>, </a:t>
                </a:r>
                <a:r>
                  <a:rPr lang="en-US" dirty="0" err="1"/>
                  <a:t>vì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ngắn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cong</a:t>
                </a:r>
                <a:r>
                  <a:rPr lang="en-US" dirty="0"/>
                  <a:t> </a:t>
                </a:r>
                <a:r>
                  <a:rPr lang="en-US" dirty="0" err="1"/>
                  <a:t>chưa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). </a:t>
                </a:r>
              </a:p>
              <a:p>
                <a:pPr lvl="0"/>
                <a:r>
                  <a:rPr lang="en-US" b="1" dirty="0" err="1"/>
                  <a:t>Lọc</a:t>
                </a:r>
                <a:r>
                  <a:rPr lang="en-US" b="1" dirty="0"/>
                  <a:t> </a:t>
                </a:r>
                <a:r>
                  <a:rPr lang="en-US" b="1" dirty="0" err="1"/>
                  <a:t>độ</a:t>
                </a:r>
                <a:r>
                  <a:rPr lang="en-US" b="1" dirty="0"/>
                  <a:t> </a:t>
                </a:r>
                <a:r>
                  <a:rPr lang="en-US" b="1" dirty="0" err="1"/>
                  <a:t>rộng</a:t>
                </a:r>
                <a:r>
                  <a:rPr lang="en-US" b="1" dirty="0"/>
                  <a:t> </a:t>
                </a:r>
                <a:r>
                  <a:rPr lang="en-US" b="1" dirty="0" err="1"/>
                  <a:t>sạc</a:t>
                </a:r>
                <a:r>
                  <a:rPr lang="en-US" b="1" dirty="0"/>
                  <a:t>: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phiên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biến</a:t>
                </a:r>
                <a:r>
                  <a:rPr lang="en-US" dirty="0"/>
                  <a:t> </a:t>
                </a:r>
                <a:r>
                  <a:rPr lang="en-US" dirty="0" err="1"/>
                  <a:t>thiên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Δ</m:t>
                    </m:r>
                    <m:r>
                      <m:rPr>
                        <m:nor/>
                      </m:rPr>
                      <a:rPr lang="en-US"/>
                      <m:t>SOC</m:t>
                    </m:r>
                    <m:r>
                      <a:rPr lang="en-US"/>
                      <m:t>&lt;20%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nhằm</a:t>
                </a:r>
                <a:r>
                  <a:rPr lang="en-US" dirty="0"/>
                  <a:t> </a:t>
                </a:r>
                <a:r>
                  <a:rPr lang="en-US" dirty="0" err="1"/>
                  <a:t>hạn</a:t>
                </a:r>
                <a:r>
                  <a:rPr lang="en-US" dirty="0"/>
                  <a:t> </a:t>
                </a:r>
                <a:r>
                  <a:rPr lang="en-US" dirty="0" err="1"/>
                  <a:t>chế</a:t>
                </a:r>
                <a:r>
                  <a:rPr lang="en-US" dirty="0"/>
                  <a:t> </a:t>
                </a:r>
                <a:r>
                  <a:rPr lang="en-US" dirty="0" err="1"/>
                  <a:t>sai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cảm</a:t>
                </a:r>
                <a:r>
                  <a:rPr lang="en-US" dirty="0"/>
                  <a:t> </a:t>
                </a:r>
                <a:r>
                  <a:rPr lang="en-US" dirty="0" err="1"/>
                  <a:t>biến</a:t>
                </a:r>
                <a:r>
                  <a:rPr lang="en-US" dirty="0"/>
                  <a:t>. </a:t>
                </a:r>
              </a:p>
              <a:p>
                <a:pPr lvl="0"/>
                <a:r>
                  <a:rPr lang="en-US" b="1" dirty="0" err="1"/>
                  <a:t>Lọc</a:t>
                </a:r>
                <a:r>
                  <a:rPr lang="en-US" b="1" dirty="0"/>
                  <a:t> dung </a:t>
                </a:r>
                <a:r>
                  <a:rPr lang="en-US" b="1" dirty="0" err="1"/>
                  <a:t>lượng</a:t>
                </a:r>
                <a:r>
                  <a:rPr lang="en-US" b="1" dirty="0"/>
                  <a:t> </a:t>
                </a:r>
                <a:r>
                  <a:rPr lang="en-US" b="1" dirty="0" err="1"/>
                  <a:t>dị</a:t>
                </a:r>
                <a:r>
                  <a:rPr lang="en-US" b="1" dirty="0"/>
                  <a:t> </a:t>
                </a:r>
                <a:r>
                  <a:rPr lang="en-US" b="1" dirty="0" err="1"/>
                  <a:t>biệt</a:t>
                </a:r>
                <a:r>
                  <a:rPr lang="en-US" b="1" dirty="0"/>
                  <a:t>:</a:t>
                </a:r>
                <a:r>
                  <a:rPr lang="en-US" dirty="0"/>
                  <a:t> </a:t>
                </a:r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giữ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phiên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dung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lệ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/>
                      <m:t>60−220</m:t>
                    </m:r>
                    <m:r>
                      <m:rPr>
                        <m:nor/>
                      </m:rPr>
                      <a:rPr lang="en-US"/>
                      <m:t> Ah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 err="1"/>
                  <a:t>Toàn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16,1 </a:t>
                </a:r>
                <a:r>
                  <a:rPr lang="en-US" dirty="0" err="1"/>
                  <a:t>triệu</a:t>
                </a:r>
                <a:r>
                  <a:rPr lang="en-US" dirty="0"/>
                  <a:t> </a:t>
                </a:r>
                <a:r>
                  <a:rPr lang="en-US" dirty="0" err="1"/>
                  <a:t>dòng</a:t>
                </a:r>
                <a:r>
                  <a:rPr lang="en-US" dirty="0"/>
                  <a:t> </a:t>
                </a:r>
                <a:r>
                  <a:rPr lang="en-US" dirty="0" err="1"/>
                  <a:t>thô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rút</a:t>
                </a:r>
                <a:r>
                  <a:rPr lang="en-US" dirty="0"/>
                  <a:t> </a:t>
                </a:r>
                <a:r>
                  <a:rPr lang="en-US" dirty="0" err="1"/>
                  <a:t>gọn</a:t>
                </a:r>
                <a:r>
                  <a:rPr lang="en-US" dirty="0"/>
                  <a:t>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b="1" dirty="0"/>
                  <a:t>31.253 </a:t>
                </a:r>
                <a:r>
                  <a:rPr lang="en-US" b="1" dirty="0" err="1"/>
                  <a:t>phiên</a:t>
                </a:r>
                <a:r>
                  <a:rPr lang="en-US" b="1" dirty="0"/>
                  <a:t> </a:t>
                </a:r>
                <a:r>
                  <a:rPr lang="en-US" b="1" dirty="0" err="1"/>
                  <a:t>sạc</a:t>
                </a:r>
                <a:r>
                  <a:rPr lang="en-US" b="1" dirty="0"/>
                  <a:t> </a:t>
                </a:r>
                <a:r>
                  <a:rPr lang="en-US" b="1" dirty="0" err="1"/>
                  <a:t>chất</a:t>
                </a:r>
                <a:r>
                  <a:rPr lang="en-US" b="1" dirty="0"/>
                  <a:t> </a:t>
                </a:r>
                <a:r>
                  <a:rPr lang="en-US" b="1" dirty="0" err="1"/>
                  <a:t>lượng</a:t>
                </a:r>
                <a:r>
                  <a:rPr lang="en-US" b="1" dirty="0"/>
                  <a:t> </a:t>
                </a:r>
                <a:r>
                  <a:rPr lang="en-US" b="1" dirty="0" err="1"/>
                  <a:t>cao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nhãn</a:t>
                </a:r>
                <a:r>
                  <a:rPr lang="en-US" dirty="0"/>
                  <a:t> </a:t>
                </a:r>
                <a:r>
                  <a:rPr lang="en-US" dirty="0" err="1"/>
                  <a:t>đầy</a:t>
                </a:r>
                <a:r>
                  <a:rPr lang="en-US" dirty="0"/>
                  <a:t> </a:t>
                </a:r>
                <a:r>
                  <a:rPr lang="en-US" dirty="0" err="1"/>
                  <a:t>đủ</a:t>
                </a:r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6" name="Body">
                <a:extLst>
                  <a:ext uri="{FF2B5EF4-FFF2-40B4-BE49-F238E27FC236}">
                    <a16:creationId xmlns:a16="http://schemas.microsoft.com/office/drawing/2014/main" id="{72B48DC5-7E0A-A0DD-5401-E1964182BC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051560"/>
                <a:ext cx="5516880" cy="3931920"/>
              </a:xfrm>
              <a:prstGeom prst="rect">
                <a:avLst/>
              </a:prstGeom>
              <a:blipFill>
                <a:blip r:embed="rId3"/>
                <a:stretch>
                  <a:fillRect l="-884" t="-930" r="-88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Hình ảnh 4">
            <a:extLst>
              <a:ext uri="{FF2B5EF4-FFF2-40B4-BE49-F238E27FC236}">
                <a16:creationId xmlns:a16="http://schemas.microsoft.com/office/drawing/2014/main" id="{679254AA-DF52-7674-B3C7-4BC9D5448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080" y="1310639"/>
            <a:ext cx="2966597" cy="308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7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8D4F-D22E-0E8D-57A3-109211B7A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>
            <a:extLst>
              <a:ext uri="{FF2B5EF4-FFF2-40B4-BE49-F238E27FC236}">
                <a16:creationId xmlns:a16="http://schemas.microsoft.com/office/drawing/2014/main" id="{6E0C0F20-3D88-6AF9-A55B-23332D55366E}"/>
              </a:ext>
            </a:extLst>
          </p:cNvPr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</a:t>
            </a:r>
            <a:r>
              <a:rPr lang="vi-VN" sz="28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vi-VN" sz="2800" dirty="0"/>
          </a:p>
        </p:txBody>
      </p:sp>
      <p:sp>
        <p:nvSpPr>
          <p:cNvPr id="3" name="Div">
            <a:extLst>
              <a:ext uri="{FF2B5EF4-FFF2-40B4-BE49-F238E27FC236}">
                <a16:creationId xmlns:a16="http://schemas.microsoft.com/office/drawing/2014/main" id="{BB6D9B98-260E-A5E1-63C8-58BF29CBE06D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268572F-6494-D91D-D9F9-46D9BBBE9D8C}"/>
              </a:ext>
            </a:extLst>
          </p:cNvPr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 err="1"/>
              <a:t>Mở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</a:t>
            </a:r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trưng</a:t>
            </a:r>
            <a:r>
              <a:rPr lang="en-US" b="1" dirty="0"/>
              <a:t>: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sạc</a:t>
            </a:r>
            <a:r>
              <a:rPr lang="en-US" dirty="0"/>
              <a:t>,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b="1" dirty="0"/>
              <a:t>167 </a:t>
            </a:r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trưng</a:t>
            </a:r>
            <a:r>
              <a:rPr lang="en-US" b="1" dirty="0"/>
              <a:t> </a:t>
            </a:r>
            <a:r>
              <a:rPr lang="en-US" b="1" dirty="0" err="1"/>
              <a:t>mở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dirty="0"/>
              <a:t>, chia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b="1" dirty="0"/>
              <a:t>9 </a:t>
            </a:r>
            <a:r>
              <a:rPr lang="en-US" b="1" dirty="0" err="1"/>
              <a:t>nhóm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chế</a:t>
            </a:r>
            <a:r>
              <a:rPr lang="en-US" b="1" dirty="0"/>
              <a:t> </a:t>
            </a:r>
            <a:r>
              <a:rPr lang="en-US" b="1" dirty="0" err="1"/>
              <a:t>vật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r>
              <a:rPr lang="en-US" dirty="0"/>
              <a:t>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áp</a:t>
            </a:r>
            <a:r>
              <a:rPr lang="en-US" b="1" dirty="0"/>
              <a:t> (37 </a:t>
            </a:r>
            <a:r>
              <a:rPr lang="en-US" b="1" dirty="0" err="1"/>
              <a:t>cột</a:t>
            </a:r>
            <a:r>
              <a:rPr lang="en-US" b="1" dirty="0"/>
              <a:t>)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Nhiệt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(26 </a:t>
            </a:r>
            <a:r>
              <a:rPr lang="en-US" b="1" dirty="0" err="1"/>
              <a:t>cột</a:t>
            </a:r>
            <a:r>
              <a:rPr lang="en-US" b="1" dirty="0"/>
              <a:t>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Cực</a:t>
            </a:r>
            <a:r>
              <a:rPr lang="en-US" b="1" dirty="0"/>
              <a:t> </a:t>
            </a:r>
            <a:r>
              <a:rPr lang="en-US" b="1" dirty="0" err="1"/>
              <a:t>trị</a:t>
            </a:r>
            <a:r>
              <a:rPr lang="en-US" b="1" dirty="0"/>
              <a:t> cell (24 </a:t>
            </a:r>
            <a:r>
              <a:rPr lang="en-US" b="1" dirty="0" err="1"/>
              <a:t>cột</a:t>
            </a:r>
            <a:r>
              <a:rPr lang="en-US" b="1" dirty="0"/>
              <a:t>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dốc</a:t>
            </a:r>
            <a:r>
              <a:rPr lang="en-US" b="1" dirty="0"/>
              <a:t> &amp;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cong</a:t>
            </a:r>
            <a:r>
              <a:rPr lang="en-US" b="1" dirty="0"/>
              <a:t> (23 </a:t>
            </a:r>
            <a:r>
              <a:rPr lang="en-US" b="1" dirty="0" err="1"/>
              <a:t>cột</a:t>
            </a:r>
            <a:r>
              <a:rPr lang="en-US" b="1" dirty="0"/>
              <a:t>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b="1" dirty="0" err="1"/>
              <a:t>sạc</a:t>
            </a:r>
            <a:r>
              <a:rPr lang="en-US" b="1" dirty="0"/>
              <a:t> (22 </a:t>
            </a:r>
            <a:r>
              <a:rPr lang="en-US" b="1" dirty="0" err="1"/>
              <a:t>cột</a:t>
            </a:r>
            <a:r>
              <a:rPr lang="en-US" b="1" dirty="0"/>
              <a:t>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Chênh</a:t>
            </a:r>
            <a:r>
              <a:rPr lang="en-US" b="1" dirty="0"/>
              <a:t> </a:t>
            </a:r>
            <a:r>
              <a:rPr lang="en-US" b="1" dirty="0" err="1"/>
              <a:t>lệch</a:t>
            </a:r>
            <a:r>
              <a:rPr lang="en-US" b="1" dirty="0"/>
              <a:t> cell (17 </a:t>
            </a:r>
            <a:r>
              <a:rPr lang="en-US" b="1" dirty="0" err="1"/>
              <a:t>cột</a:t>
            </a:r>
            <a:r>
              <a:rPr lang="en-US" b="1" dirty="0"/>
              <a:t>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Đường</a:t>
            </a:r>
            <a:r>
              <a:rPr lang="en-US" b="1" dirty="0"/>
              <a:t> </a:t>
            </a:r>
            <a:r>
              <a:rPr lang="en-US" b="1" dirty="0" err="1"/>
              <a:t>cong</a:t>
            </a:r>
            <a:r>
              <a:rPr lang="en-US" b="1" dirty="0"/>
              <a:t> IC (10 </a:t>
            </a:r>
            <a:r>
              <a:rPr lang="en-US" b="1" dirty="0" err="1"/>
              <a:t>cột</a:t>
            </a:r>
            <a:r>
              <a:rPr lang="en-US" b="1" dirty="0"/>
              <a:t>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Cửa</a:t>
            </a:r>
            <a:r>
              <a:rPr lang="en-US" b="1" dirty="0"/>
              <a:t> </a:t>
            </a:r>
            <a:r>
              <a:rPr lang="en-US" b="1" dirty="0" err="1"/>
              <a:t>sổ</a:t>
            </a:r>
            <a:r>
              <a:rPr lang="en-US" b="1" dirty="0"/>
              <a:t> SOC (6 </a:t>
            </a:r>
            <a:r>
              <a:rPr lang="en-US" b="1" dirty="0" err="1"/>
              <a:t>cột</a:t>
            </a:r>
            <a:r>
              <a:rPr lang="en-US" b="1" dirty="0"/>
              <a:t>)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trở</a:t>
            </a:r>
            <a:r>
              <a:rPr lang="en-US" b="1" dirty="0"/>
              <a:t> </a:t>
            </a:r>
            <a:r>
              <a:rPr lang="en-US" b="1" dirty="0" err="1"/>
              <a:t>ước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(2 </a:t>
            </a:r>
            <a:r>
              <a:rPr lang="en-US" b="1" dirty="0" err="1"/>
              <a:t>cột</a:t>
            </a:r>
            <a:r>
              <a:rPr lang="en-US" b="1" dirty="0"/>
              <a:t>)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216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QL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SQL Queries — Số lượng tối thiểu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định số lượng SQL Queries:</a:t>
            </a:r>
            <a:endParaRPr lang="vi-VN" sz="1700" dirty="0"/>
          </a:p>
          <a:p>
            <a:pPr>
              <a:spcAft>
                <a:spcPts val="200"/>
              </a:spcAft>
              <a:buNone/>
            </a:pPr>
            <a:endParaRPr lang="vi-VN" sz="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vi-VN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queries  =  Group size  ×  3</a:t>
            </a:r>
            <a:endParaRPr lang="vi-VN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vi-VN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5 queries for groups with 1 member</a:t>
            </a:r>
            <a:endParaRPr lang="vi-VN" sz="1600" dirty="0"/>
          </a:p>
          <a:p>
            <a:pPr>
              <a:spcAft>
                <a:spcPts val="200"/>
              </a:spcAft>
              <a:buNone/>
            </a:pPr>
            <a:endParaRPr lang="vi-VN" sz="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minh hoạ:</a:t>
            </a:r>
            <a:endParaRPr lang="vi-VN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member   →   5 queries  (minimum)</a:t>
            </a:r>
            <a:endParaRPr lang="vi-VN" sz="14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members  →   6 queries</a:t>
            </a:r>
            <a:endParaRPr lang="vi-VN" sz="14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members  →   9 queries</a:t>
            </a:r>
            <a:endParaRPr lang="vi-VN" sz="14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members  →   12 queries</a:t>
            </a:r>
            <a:endParaRPr lang="vi-VN" sz="14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members  →   15 queries</a:t>
            </a:r>
            <a:endParaRPr lang="vi-VN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QL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SQL Analysis — Query Count by Group Size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6078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size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queries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member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max(1×3, 5)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members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3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members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3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members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3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members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3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QLStr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SQL Analysis — Structure of Each Query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874520"/>
        </p:xfrm>
        <a:graphic>
          <a:graphicData uri="http://schemas.openxmlformats.org/drawingml/2006/table">
            <a:tbl>
              <a:tblPr/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element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RQ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rõ: 'This query answers RQ[number]' — bắt buộc với mọi query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code block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Hiển thị đầy đủ code — không cắt ngắn. Dùng monospace / code block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result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hoặc bảng kết quả thực tế từ database / notebook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thích ý nghĩa kết quả — 1–2 câu ngắn gọn bằng tiếng Anh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type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loại: SELECT · JOIN · GROUP BY · Subquery · Window Function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dùng để sinh / kiểm tra query; Human Delta (phần nhóm tự sửa)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SQL Queries</a:t>
            </a:r>
            <a:endParaRPr lang="vi-VN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LabelBox0"/>
          <p:cNvSpPr/>
          <p:nvPr/>
        </p:nvSpPr>
        <p:spPr>
          <a:xfrm>
            <a:off x="457200" y="1100000"/>
            <a:ext cx="2600000" cy="640000"/>
          </a:xfrm>
          <a:prstGeom prst="rect">
            <a:avLst/>
          </a:prstGeom>
          <a:solidFill>
            <a:srgbClr val="1F3864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SELECT cơ bản</a:t>
            </a:r>
            <a:endParaRPr lang="vi-VN" sz="1400" dirty="0"/>
          </a:p>
        </p:txBody>
      </p:sp>
      <p:sp>
        <p:nvSpPr>
          <p:cNvPr id="11" name="ExBox0"/>
          <p:cNvSpPr/>
          <p:nvPr/>
        </p:nvSpPr>
        <p:spPr>
          <a:xfrm>
            <a:off x="3077200" y="1100000"/>
            <a:ext cx="5609600" cy="640000"/>
          </a:xfrm>
          <a:prstGeom prst="rect">
            <a:avLst/>
          </a:prstGeom>
          <a:solidFill>
            <a:srgbClr val="EEF2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ORDER BY, LIMIT, DISTINCT</a:t>
            </a:r>
            <a:endParaRPr lang="vi-VN" sz="1200" dirty="0"/>
          </a:p>
        </p:txBody>
      </p:sp>
      <p:sp>
        <p:nvSpPr>
          <p:cNvPr id="13" name="LabelBox1"/>
          <p:cNvSpPr/>
          <p:nvPr/>
        </p:nvSpPr>
        <p:spPr>
          <a:xfrm>
            <a:off x="457200" y="1800000"/>
            <a:ext cx="2600000" cy="640000"/>
          </a:xfrm>
          <a:prstGeom prst="rect">
            <a:avLst/>
          </a:prstGeom>
          <a:solidFill>
            <a:srgbClr val="1A3F7A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JOIN và quan hệ</a:t>
            </a:r>
            <a:endParaRPr lang="vi-VN" sz="1400" dirty="0"/>
          </a:p>
        </p:txBody>
      </p:sp>
      <p:sp>
        <p:nvSpPr>
          <p:cNvPr id="14" name="ExBox1"/>
          <p:cNvSpPr/>
          <p:nvPr/>
        </p:nvSpPr>
        <p:spPr>
          <a:xfrm>
            <a:off x="3077200" y="1800000"/>
            <a:ext cx="5609600" cy="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JOIN, LEFT JOIN, RIGHT JOIN, FULL JOIN</a:t>
            </a:r>
            <a:endParaRPr lang="vi-VN" sz="1200" dirty="0"/>
          </a:p>
        </p:txBody>
      </p:sp>
      <p:sp>
        <p:nvSpPr>
          <p:cNvPr id="16" name="LabelBox2"/>
          <p:cNvSpPr/>
          <p:nvPr/>
        </p:nvSpPr>
        <p:spPr>
          <a:xfrm>
            <a:off x="457200" y="2500000"/>
            <a:ext cx="2600000" cy="640000"/>
          </a:xfrm>
          <a:prstGeom prst="rect">
            <a:avLst/>
          </a:prstGeom>
          <a:solidFill>
            <a:srgbClr val="24478A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GROUP BY và Aggregation</a:t>
            </a:r>
            <a:endParaRPr lang="vi-VN" sz="1400" dirty="0"/>
          </a:p>
        </p:txBody>
      </p:sp>
      <p:sp>
        <p:nvSpPr>
          <p:cNvPr id="17" name="ExBox2"/>
          <p:cNvSpPr/>
          <p:nvPr/>
        </p:nvSpPr>
        <p:spPr>
          <a:xfrm>
            <a:off x="3077200" y="2500000"/>
            <a:ext cx="5609600" cy="640000"/>
          </a:xfrm>
          <a:prstGeom prst="rect">
            <a:avLst/>
          </a:prstGeom>
          <a:solidFill>
            <a:srgbClr val="EEF2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HAVING, COUNT, SUM, AVG, MIN, MAX</a:t>
            </a:r>
            <a:endParaRPr lang="vi-VN" sz="1200" dirty="0"/>
          </a:p>
        </p:txBody>
      </p:sp>
      <p:sp>
        <p:nvSpPr>
          <p:cNvPr id="19" name="LabelBox3"/>
          <p:cNvSpPr/>
          <p:nvPr/>
        </p:nvSpPr>
        <p:spPr>
          <a:xfrm>
            <a:off x="457200" y="3200000"/>
            <a:ext cx="2600000" cy="640000"/>
          </a:xfrm>
          <a:prstGeom prst="rect">
            <a:avLst/>
          </a:prstGeom>
          <a:solidFill>
            <a:srgbClr val="1E4080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Subquery / CTE</a:t>
            </a:r>
            <a:endParaRPr lang="vi-VN" sz="1400" dirty="0"/>
          </a:p>
        </p:txBody>
      </p:sp>
      <p:sp>
        <p:nvSpPr>
          <p:cNvPr id="20" name="ExBox3"/>
          <p:cNvSpPr/>
          <p:nvPr/>
        </p:nvSpPr>
        <p:spPr>
          <a:xfrm>
            <a:off x="3077200" y="3200000"/>
            <a:ext cx="5609600" cy="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trong WHERE/FROM, WITH...AS (CTE)</a:t>
            </a:r>
            <a:endParaRPr lang="vi-VN" sz="1200" dirty="0"/>
          </a:p>
        </p:txBody>
      </p:sp>
      <p:sp>
        <p:nvSpPr>
          <p:cNvPr id="22" name="LabelBox4"/>
          <p:cNvSpPr/>
          <p:nvPr/>
        </p:nvSpPr>
        <p:spPr>
          <a:xfrm>
            <a:off x="457200" y="3900000"/>
            <a:ext cx="2600000" cy="640000"/>
          </a:xfrm>
          <a:prstGeom prst="rect">
            <a:avLst/>
          </a:prstGeom>
          <a:solidFill>
            <a:srgbClr val="1A3568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Window Function</a:t>
            </a:r>
            <a:endParaRPr lang="vi-VN" sz="1400" dirty="0"/>
          </a:p>
        </p:txBody>
      </p:sp>
      <p:sp>
        <p:nvSpPr>
          <p:cNvPr id="23" name="ExBox4"/>
          <p:cNvSpPr/>
          <p:nvPr/>
        </p:nvSpPr>
        <p:spPr>
          <a:xfrm>
            <a:off x="3077200" y="3900000"/>
            <a:ext cx="5609600" cy="640000"/>
          </a:xfrm>
          <a:prstGeom prst="rect">
            <a:avLst/>
          </a:prstGeom>
          <a:solidFill>
            <a:srgbClr val="EEF2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RANK(), ROW_NUMBER(), LAG(), LEAD(), OVER()</a:t>
            </a:r>
            <a:endParaRPr lang="vi-VN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chất lượng SQL Query</a:t>
            </a:r>
            <a:endParaRPr lang="vi-VN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query phải có mục đích rõ ràng và liên kết với Research Question (RQ) tương ứng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trả về kết quả có ý nghỪa, không chỉ SELECT * FROM table mà không xử lý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sử dụng ít nhất 1 kỹ thuật phân tích: JOIN, GROUP BY, Subquery hoặc Window Function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query được hỳa bảng biểu đồ (chart) hoặc bảng tóm tắt trong báo cáo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Log: ghi lại prompt, output AI, phần chỉnh s𞻚 của nhóm (Human Delta)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sao chép query giống nhau — mỗi query phải khác nhau về mục đích và kết quả</a:t>
            </a:r>
            <a:endParaRPr lang="vi-VN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t2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vi-VN"/>
          </a:p>
        </p:txBody>
      </p:sp>
      <p:sp>
        <p:nvSpPr>
          <p:cNvPr id="3" name="Box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vi-VN" dirty="0"/>
          </a:p>
        </p:txBody>
      </p:sp>
      <p:sp>
        <p:nvSpPr>
          <p:cNvPr id="4" name="Box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 &amp; Visualization</a:t>
            </a:r>
            <a:endParaRPr lang="vi-VN" dirty="0"/>
          </a:p>
        </p:txBody>
      </p:sp>
      <p:sp>
        <p:nvSpPr>
          <p:cNvPr id="10" name="Box10"/>
          <p:cNvSpPr/>
          <p:nvPr/>
        </p:nvSpPr>
        <p:spPr>
          <a:xfrm>
            <a:off x="322000" y="2900000"/>
            <a:ext cx="425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vi-VN" dirty="0"/>
          </a:p>
        </p:txBody>
      </p:sp>
      <p:sp>
        <p:nvSpPr>
          <p:cNvPr id="11" name="Box11"/>
          <p:cNvSpPr/>
          <p:nvPr/>
        </p:nvSpPr>
        <p:spPr>
          <a:xfrm>
            <a:off x="4622000" y="2900000"/>
            <a:ext cx="425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Insights</a:t>
            </a:r>
            <a:endParaRPr lang="vi-V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yth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Analysis with Python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87452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present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notebook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Google Colab / GitHub — người chấm có thể chạy lại từ đầu đến cuối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biến mới, xử lý outliers, encode — giải thích lý do từng bước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analysis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Clustering, classification, time-series... phải liên kết với RQ cụ thể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metrics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F1, RMSE, Silhouette... so sánh ít nhất 2 approaches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trả lời RQ nào? Insight cụ thể bằng số liệu — không chỉ mô tả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code Python, feature engineering; Human Delta: nhóm sửa gì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Visualization &amp; Evidence-Based Insights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874520"/>
        </p:xfrm>
        <a:graphic>
          <a:graphicData uri="http://schemas.openxmlformats.org/drawingml/2006/table">
            <a:tbl>
              <a:tblPr/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nào dùng &amp; Yêu cầu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/ KDE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phối biến — cần title, axis labels, nhận xét 1 câu bên dưới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/ Grouped Bar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 nhóm — color legend, annotation giá trị, sắp xếp có chủ đích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 hướng theo thời gian — highlight đỉnh / đáy, ghi chú sự kiện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/ Heatmap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Tương quan biến — color scale, correlation coefficient, giải thích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plot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hiện outliers — kèm nhận xét thống kê về Q1/Q3/IQR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for ALL charts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Mỗi biểu đồ: tiêu đề rõ, nhãn trục, insight evidence-based 1–2 câu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t3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vi-VN"/>
          </a:p>
        </p:txBody>
      </p:sp>
      <p:sp>
        <p:nvSpPr>
          <p:cNvPr id="3" name="Box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vi-VN" dirty="0"/>
          </a:p>
        </p:txBody>
      </p:sp>
      <p:sp>
        <p:nvSpPr>
          <p:cNvPr id="4" name="Box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Modeling, Tool &amp; AI Reflection</a:t>
            </a:r>
            <a:endParaRPr lang="vi-VN" dirty="0"/>
          </a:p>
        </p:txBody>
      </p:sp>
      <p:sp>
        <p:nvSpPr>
          <p:cNvPr id="10" name="Box10"/>
          <p:cNvSpPr/>
          <p:nvPr/>
        </p:nvSpPr>
        <p:spPr>
          <a:xfrm>
            <a:off x="322000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vi-VN" dirty="0"/>
          </a:p>
        </p:txBody>
      </p:sp>
      <p:sp>
        <p:nvSpPr>
          <p:cNvPr id="11" name="Box11"/>
          <p:cNvSpPr/>
          <p:nvPr/>
        </p:nvSpPr>
        <p:spPr>
          <a:xfrm>
            <a:off x="3205333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</a:t>
            </a:r>
            <a:endParaRPr lang="vi-VN" dirty="0"/>
          </a:p>
        </p:txBody>
      </p:sp>
      <p:sp>
        <p:nvSpPr>
          <p:cNvPr id="12" name="Box12"/>
          <p:cNvSpPr/>
          <p:nvPr/>
        </p:nvSpPr>
        <p:spPr>
          <a:xfrm>
            <a:off x="6088666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+ AI Reflection (20 pts)</a:t>
            </a:r>
            <a:endParaRPr lang="vi-V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r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Regression Analysis (Compare &gt;= 5 Models)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703800"/>
              </p:ext>
            </p:extLst>
          </p:nvPr>
        </p:nvGraphicFramePr>
        <p:xfrm>
          <a:off x="457200" y="1097280"/>
          <a:ext cx="8229600" cy="2049780"/>
        </p:xfrm>
        <a:graphic>
          <a:graphicData uri="http://schemas.openxmlformats.org/drawingml/2006/table">
            <a:tbl>
              <a:tblPr/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present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choice rationale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thích tại sao chọn mô hình: Linear / Ridge / RF / XGBoost...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 &amp; independent variables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và features sử dụng — giải thích lý do chọn từng biến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&gt;= 5 models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tối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thiểu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là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02 model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khác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nhau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metrics: RMSE, R², MAE — highlight mô hình tốt nhất, lý do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charts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vs Actual, Residual plot, Feature Importance chart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 &amp; limitations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có ý nghĩa gì? Hạn chế của mô hình là gì? Cải thiện thế nào?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huấn luyện &amp; so sánh; Human Delta: nhóm tự điều chỉnh gì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o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Analysis Tool — Dashboard / Report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874520"/>
        </p:xfrm>
        <a:graphic>
          <a:graphicData uri="http://schemas.openxmlformats.org/drawingml/2006/table">
            <a:tbl>
              <a:tblPr/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tools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(ưu tiên), Tableau, Google Data Studio, Streamlit / Gradio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3 visualizations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biểu đồ interactive khác nhau, mỗi cái liên kết một RQ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Summary metrics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revenue, # customers, conversion rate, YoY growth %...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/ Slicer functional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 lọc được theo thời gian, danh mục, khu vực — demo live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RQ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Mỗi chart trong dashboard trả lời cho RQ nào? Ghi chú rõ ràng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thiết kế dashboard; Human Delta; Hallucination check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Q&amp;A + AI Reflection / Human Delta  (20 points)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Box10"/>
          <p:cNvSpPr/>
          <p:nvPr/>
        </p:nvSpPr>
        <p:spPr>
          <a:xfrm>
            <a:off x="457200" y="1080000"/>
            <a:ext cx="2700000" cy="4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</a:t>
            </a:r>
            <a:endParaRPr lang="vi-VN" dirty="0"/>
          </a:p>
        </p:txBody>
      </p:sp>
      <p:sp>
        <p:nvSpPr>
          <p:cNvPr id="11" name="Box11"/>
          <p:cNvSpPr/>
          <p:nvPr/>
        </p:nvSpPr>
        <p:spPr>
          <a:xfrm>
            <a:off x="457200" y="1550000"/>
            <a:ext cx="2700000" cy="31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prompts used (with timestamps)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each AI output: correct / incorrect?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prompt refinement iterations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dẫn: ghi đầy đủ session, không bỏ sót</a:t>
            </a:r>
            <a:endParaRPr lang="vi-VN" dirty="0"/>
          </a:p>
        </p:txBody>
      </p:sp>
      <p:sp>
        <p:nvSpPr>
          <p:cNvPr id="15" name="Box15"/>
          <p:cNvSpPr/>
          <p:nvPr/>
        </p:nvSpPr>
        <p:spPr>
          <a:xfrm>
            <a:off x="3214200" y="1080000"/>
            <a:ext cx="2700000" cy="46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Delta</a:t>
            </a:r>
            <a:endParaRPr lang="vi-VN" dirty="0"/>
          </a:p>
        </p:txBody>
      </p:sp>
      <p:sp>
        <p:nvSpPr>
          <p:cNvPr id="16" name="Box16"/>
          <p:cNvSpPr/>
          <p:nvPr/>
        </p:nvSpPr>
        <p:spPr>
          <a:xfrm>
            <a:off x="3214200" y="1550000"/>
            <a:ext cx="2700000" cy="31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team did WITHOUT AI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decisions made independently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detected &amp; corrected AI errors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dẫn: chứng minh tư duy phản biện của nhóm</a:t>
            </a:r>
            <a:endParaRPr lang="vi-VN" dirty="0"/>
          </a:p>
        </p:txBody>
      </p:sp>
      <p:sp>
        <p:nvSpPr>
          <p:cNvPr id="20" name="Box20"/>
          <p:cNvSpPr/>
          <p:nvPr/>
        </p:nvSpPr>
        <p:spPr>
          <a:xfrm>
            <a:off x="5971200" y="1080000"/>
            <a:ext cx="2700000" cy="4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Check</a:t>
            </a:r>
            <a:endParaRPr lang="vi-VN" dirty="0"/>
          </a:p>
        </p:txBody>
      </p:sp>
      <p:sp>
        <p:nvSpPr>
          <p:cNvPr id="21" name="Box21"/>
          <p:cNvSpPr/>
          <p:nvPr/>
        </p:nvSpPr>
        <p:spPr>
          <a:xfrm>
            <a:off x="5971200" y="1550000"/>
            <a:ext cx="2700000" cy="31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output was wrong / inaccurate?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your team detect the mistake?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used to fact-check (source, test run...)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dẫn: bắt buộc có ít nhất 1 ví dụ cụ thể</a:t>
            </a:r>
            <a:endParaRPr lang="vi-VN" dirty="0"/>
          </a:p>
        </p:txBody>
      </p:sp>
      <p:sp>
        <p:nvSpPr>
          <p:cNvPr id="50" name="Body"/>
          <p:cNvSpPr/>
          <p:nvPr/>
        </p:nvSpPr>
        <p:spPr>
          <a:xfrm>
            <a:off x="457200" y="48300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session: Giảng viên đặt câu hỏi về kết quả, lý do chọn method, và vai trò từng thành viên. Mỗi thành viên phải trả lời được ít nhất 1 câu hỏi.</a:t>
            </a:r>
            <a:endParaRPr lang="vi-VN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A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Preparation &amp; Time Management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Q&amp;A — lưu ý quan trọng:</a:t>
            </a:r>
            <a:endParaRPr lang="vi-VN" sz="1700" dirty="0"/>
          </a:p>
          <a:p>
            <a:pPr>
              <a:spcAft>
                <a:spcPts val="200"/>
              </a:spcAft>
              <a:buNone/>
            </a:pPr>
            <a:endParaRPr lang="vi-VN" sz="2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must understand ALL analysis steps, not only their own part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explain: 'Why this model/method?' and 'What does the result mean?'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 must be present and ready to present when asked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was wrong, explain how your team detected and fixed it (Human Delta)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findings back to the Research Questions you stated in Part 1</a:t>
            </a:r>
            <a:endParaRPr lang="vi-VN" sz="1400" dirty="0"/>
          </a:p>
          <a:p>
            <a:pPr>
              <a:spcAft>
                <a:spcPts val="200"/>
              </a:spcAft>
              <a:buNone/>
            </a:pPr>
            <a:endParaRPr lang="vi-VN" sz="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trình bày tối đa:</a:t>
            </a:r>
            <a:endParaRPr lang="vi-VN" sz="16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(Problem Statement · RQ · Data · SQL):  </a:t>
            </a:r>
            <a:r>
              <a:rPr lang="en-US" sz="14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vi-VN" sz="14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(Python · Visualization):               </a:t>
            </a: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vi-VN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(Regression · Tool · Q&amp;A):              </a:t>
            </a:r>
            <a:r>
              <a:rPr lang="en-US" sz="14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vi-VN" sz="14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session:                                   </a:t>
            </a:r>
            <a:r>
              <a:rPr lang="en-US" sz="1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vi-VN" sz="1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≤  </a:t>
            </a: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Before the Presentation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2674620"/>
        </p:xfrm>
        <a:graphic>
          <a:graphicData uri="http://schemas.openxmlformats.org/drawingml/2006/table">
            <a:tbl>
              <a:tblPr/>
              <a:tblGrid>
                <a:gridCol w="5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item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Questions (min. 3), each linked to an analysis step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queries: group size × 3, minimum 5 — each links to an RQ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SQL query shows: code + result + interpretation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notebook is fully reproducible (re-runnable end-to-end)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chart has title, axis labels, and 1–2 sentence insight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Regression: compared &gt;= 5 models with evaluation metrics table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/ tool can be demo-ed live with working filters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 is complete (prompts + Human Delta + Hallucination)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presentation time &lt;= 35 minutes (timed rehearsal done)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Problem Statement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190204"/>
              </p:ext>
            </p:extLst>
          </p:nvPr>
        </p:nvGraphicFramePr>
        <p:xfrm>
          <a:off x="457200" y="1097280"/>
          <a:ext cx="8229600" cy="160782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Criteria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nội dung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problem / topic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Nêu rõ vấn đề cần giải quyết, phạm vi dữ liệu, bối cảnh thực tế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analysis objective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muốn tìm hiểu / dự đoán / phân loại điều gì từ dữ liệu?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 the approach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SQL + Python + mô hình gì? Tại sao chọn phương pháp này?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 1–2 reliable sources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Trích dẫn paper / bài báo / dataset gốc để justify bài toán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 required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brainstorm vấn đề, xác định RQ, reflection về độ chính xác AI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Underst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Data Understanding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622878"/>
              </p:ext>
            </p:extLst>
          </p:nvPr>
        </p:nvGraphicFramePr>
        <p:xfrm>
          <a:off x="457200" y="1097280"/>
          <a:ext cx="8229600" cy="272796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present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lấy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bài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Nguồn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Deng Z., Xu L., Liu H., Hu X., Duan Z., Xu Y. *Prognostics of battery capacity based on</a:t>
                      </a:r>
                    </a:p>
                    <a:p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charging data and data-driven methods for on-road vehicles.</a:t>
                      </a:r>
                    </a:p>
                    <a:p>
                      <a:pPr marL="91440" indent="0" algn="l">
                        <a:buNone/>
                      </a:pP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vi-VN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lọc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16.100.728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dòng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theo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từng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thời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điểm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đo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31.253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phiên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sạc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167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đặc</a:t>
                      </a:r>
                      <a:r>
                        <a:rPr lang="en-US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trưng</a:t>
                      </a:r>
                      <a:endParaRPr lang="en-US" sz="135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variables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Biến phụ thuộc (target) và biến độc lập quan trọng nhất — lý do chọn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 decisions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 lý null: loại bỏ / fill. Chuẩn hóa. Encode categorical. Lý do?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charts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Histogram, heatmap tương quan, boxplot — mỗi chart cần nhận xét 1 câu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EDA, data profiling và các quyết định preprocessing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ke-beamer">
  <a:themeElements>
    <a:clrScheme name="Beamer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31B4"/>
      </a:accent1>
      <a:accent2>
        <a:srgbClr val="26268C"/>
      </a:accent2>
      <a:accent3>
        <a:srgbClr val="1C1B6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amer" id="{99E1F896-D2CB-2744-898B-231E70ADB72B}" vid="{6D0C7D28-E11F-0F48-8979-25ECC39484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fake-beamer</Template>
  <TotalTime>335</TotalTime>
  <Words>3002</Words>
  <Application>Microsoft Office PowerPoint</Application>
  <PresentationFormat>Trình chiếu Trên màn hình (16:9)</PresentationFormat>
  <Paragraphs>311</Paragraphs>
  <Slides>27</Slides>
  <Notes>17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27</vt:i4>
      </vt:variant>
    </vt:vector>
  </HeadingPairs>
  <TitlesOfParts>
    <vt:vector size="33" baseType="lpstr">
      <vt:lpstr>CMU Sans Serif Medium</vt:lpstr>
      <vt:lpstr>Google Sans Text</vt:lpstr>
      <vt:lpstr>Arial</vt:lpstr>
      <vt:lpstr>Calibri</vt:lpstr>
      <vt:lpstr>Cambria Math</vt:lpstr>
      <vt:lpstr>fake-beamer</vt:lpstr>
      <vt:lpstr> PROJECT TITLE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1: Giới thiệu về Máy tính</dc:title>
  <dc:subject>PptxGenJS Presentation</dc:subject>
  <dc:creator>Nhat-Tung Le</dc:creator>
  <cp:lastModifiedBy>Quan Nguyen</cp:lastModifiedBy>
  <cp:revision>36</cp:revision>
  <dcterms:created xsi:type="dcterms:W3CDTF">2026-05-01T11:03:29Z</dcterms:created>
  <dcterms:modified xsi:type="dcterms:W3CDTF">2026-09-25T06:18:56Z</dcterms:modified>
</cp:coreProperties>
</file>